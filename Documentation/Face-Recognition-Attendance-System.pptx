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Quattrocento"/>
      <p:regular r:id="rId17"/>
    </p:embeddedFont>
    <p:embeddedFont>
      <p:font typeface="Quattrocento"/>
      <p:regular r:id="rId18"/>
    </p:embeddedFont>
    <p:embeddedFont>
      <p:font typeface="Quattrocento"/>
      <p:regular r:id="rId19"/>
    </p:embeddedFont>
    <p:embeddedFont>
      <p:font typeface="Quattrocento"/>
      <p:regular r:id="rId20"/>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5.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6.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8.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slideLayout" Target="../slideLayouts/slideLayout9.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0.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1.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56496" y="767477"/>
            <a:ext cx="7603808" cy="1294209"/>
          </a:xfrm>
          <a:prstGeom prst="rect">
            <a:avLst/>
          </a:prstGeom>
          <a:noFill/>
          <a:ln/>
        </p:spPr>
        <p:txBody>
          <a:bodyPr wrap="square" lIns="0" tIns="0" rIns="0" bIns="0" rtlCol="0" anchor="t"/>
          <a:lstStyle/>
          <a:p>
            <a:pPr algn="l" indent="0" marL="0">
              <a:lnSpc>
                <a:spcPts val="5050"/>
              </a:lnSpc>
              <a:buNone/>
            </a:pPr>
            <a:r>
              <a:rPr lang="en-US" sz="4050" dirty="0">
                <a:solidFill>
                  <a:srgbClr val="FFD9BE"/>
                </a:solidFill>
                <a:latin typeface="Quattrocento" pitchFamily="34" charset="0"/>
                <a:ea typeface="Quattrocento" pitchFamily="34" charset="-122"/>
                <a:cs typeface="Quattrocento" pitchFamily="34" charset="-120"/>
              </a:rPr>
              <a:t>Face Recognition Attendance System</a:t>
            </a:r>
            <a:endParaRPr lang="en-US" sz="4050" dirty="0"/>
          </a:p>
        </p:txBody>
      </p:sp>
      <p:sp>
        <p:nvSpPr>
          <p:cNvPr id="4" name="Text 1"/>
          <p:cNvSpPr/>
          <p:nvPr/>
        </p:nvSpPr>
        <p:spPr>
          <a:xfrm>
            <a:off x="6256496" y="2391728"/>
            <a:ext cx="7603808" cy="1759744"/>
          </a:xfrm>
          <a:prstGeom prst="rect">
            <a:avLst/>
          </a:prstGeom>
          <a:noFill/>
          <a:ln/>
        </p:spPr>
        <p:txBody>
          <a:bodyPr wrap="square" lIns="0" tIns="0" rIns="0" bIns="0" rtlCol="0" anchor="t"/>
          <a:lstStyle/>
          <a:p>
            <a:pPr algn="l" indent="0" marL="0">
              <a:lnSpc>
                <a:spcPts val="2750"/>
              </a:lnSpc>
              <a:buNone/>
            </a:pPr>
            <a:r>
              <a:rPr lang="en-US" sz="1700" dirty="0">
                <a:solidFill>
                  <a:srgbClr val="F9EEE7"/>
                </a:solidFill>
                <a:latin typeface="Quattrocento" pitchFamily="34" charset="0"/>
                <a:ea typeface="Quattrocento" pitchFamily="34" charset="-122"/>
                <a:cs typeface="Quattrocento" pitchFamily="34" charset="-120"/>
              </a:rPr>
              <a:t>The Face Recognition Attendance System project represents a transformative endeavour at the intersection of technological innovation and educational enhancement. It aims to revolutionise traditional attendance management methods by harnessing advanced facial recognition technology and machine learning algorithms.</a:t>
            </a:r>
            <a:endParaRPr lang="en-US" sz="1700" dirty="0"/>
          </a:p>
        </p:txBody>
      </p:sp>
      <p:sp>
        <p:nvSpPr>
          <p:cNvPr id="5" name="Text 2"/>
          <p:cNvSpPr/>
          <p:nvPr/>
        </p:nvSpPr>
        <p:spPr>
          <a:xfrm>
            <a:off x="6256496" y="4399002"/>
            <a:ext cx="7603808" cy="1759744"/>
          </a:xfrm>
          <a:prstGeom prst="rect">
            <a:avLst/>
          </a:prstGeom>
          <a:noFill/>
          <a:ln/>
        </p:spPr>
        <p:txBody>
          <a:bodyPr wrap="square" lIns="0" tIns="0" rIns="0" bIns="0" rtlCol="0" anchor="t"/>
          <a:lstStyle/>
          <a:p>
            <a:pPr algn="l" indent="0" marL="0">
              <a:lnSpc>
                <a:spcPts val="2750"/>
              </a:lnSpc>
              <a:buNone/>
            </a:pPr>
            <a:r>
              <a:rPr lang="en-US" sz="1700" dirty="0">
                <a:solidFill>
                  <a:srgbClr val="F9EEE7"/>
                </a:solidFill>
                <a:latin typeface="Quattrocento" pitchFamily="34" charset="0"/>
                <a:ea typeface="Quattrocento" pitchFamily="34" charset="-122"/>
                <a:cs typeface="Quattrocento" pitchFamily="34" charset="-120"/>
              </a:rPr>
              <a:t>By automating the attendance capture process, this system liberates educators from the burdensome task of manual data entry, allowing them to redirect their time towards student engagement and academic support. The system's dedication to accuracy and reliability serves as a cornerstone in ensuring the integrity of attendance records within educational institutions.</a:t>
            </a:r>
            <a:endParaRPr lang="en-US" sz="1700" dirty="0"/>
          </a:p>
        </p:txBody>
      </p:sp>
      <p:sp>
        <p:nvSpPr>
          <p:cNvPr id="6" name="Text 3"/>
          <p:cNvSpPr/>
          <p:nvPr/>
        </p:nvSpPr>
        <p:spPr>
          <a:xfrm>
            <a:off x="6256496" y="6406277"/>
            <a:ext cx="7603808" cy="1055846"/>
          </a:xfrm>
          <a:prstGeom prst="rect">
            <a:avLst/>
          </a:prstGeom>
          <a:noFill/>
          <a:ln/>
        </p:spPr>
        <p:txBody>
          <a:bodyPr wrap="square" lIns="0" tIns="0" rIns="0" bIns="0" rtlCol="0" anchor="t"/>
          <a:lstStyle/>
          <a:p>
            <a:pPr algn="l" indent="0" marL="0">
              <a:lnSpc>
                <a:spcPts val="2750"/>
              </a:lnSpc>
              <a:buNone/>
            </a:pPr>
            <a:r>
              <a:rPr lang="en-US" sz="1700" dirty="0">
                <a:solidFill>
                  <a:srgbClr val="F9EEE7"/>
                </a:solidFill>
                <a:latin typeface="Quattrocento" pitchFamily="34" charset="0"/>
                <a:ea typeface="Quattrocento" pitchFamily="34" charset="-122"/>
                <a:cs typeface="Quattrocento" pitchFamily="34" charset="-120"/>
              </a:rPr>
              <a:t>Through its innovative approach and unwavering commitment to excellence, this project aims to usher in a new era of efficiency, effectiveness, and student success.</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51364" y="674013"/>
            <a:ext cx="5258038" cy="558760"/>
          </a:xfrm>
          <a:prstGeom prst="rect">
            <a:avLst/>
          </a:prstGeom>
          <a:noFill/>
          <a:ln/>
        </p:spPr>
        <p:txBody>
          <a:bodyPr wrap="none" lIns="0" tIns="0" rIns="0" bIns="0" rtlCol="0" anchor="t"/>
          <a:lstStyle/>
          <a:p>
            <a:pPr algn="l" indent="0" marL="0">
              <a:lnSpc>
                <a:spcPts val="4400"/>
              </a:lnSpc>
              <a:buNone/>
            </a:pPr>
            <a:r>
              <a:rPr lang="en-US" sz="3500" dirty="0">
                <a:solidFill>
                  <a:srgbClr val="FFD9BE"/>
                </a:solidFill>
                <a:latin typeface="Quattrocento" pitchFamily="34" charset="0"/>
                <a:ea typeface="Quattrocento" pitchFamily="34" charset="-122"/>
                <a:cs typeface="Quattrocento" pitchFamily="34" charset="-120"/>
              </a:rPr>
              <a:t>Motivation and Objectives</a:t>
            </a:r>
            <a:endParaRPr lang="en-US" sz="3500" dirty="0"/>
          </a:p>
        </p:txBody>
      </p:sp>
      <p:sp>
        <p:nvSpPr>
          <p:cNvPr id="4" name="Shape 1"/>
          <p:cNvSpPr/>
          <p:nvPr/>
        </p:nvSpPr>
        <p:spPr>
          <a:xfrm>
            <a:off x="6151364" y="1731407"/>
            <a:ext cx="427434" cy="427434"/>
          </a:xfrm>
          <a:prstGeom prst="roundRect">
            <a:avLst>
              <a:gd name="adj" fmla="val 6668"/>
            </a:avLst>
          </a:prstGeom>
          <a:solidFill>
            <a:srgbClr val="315251"/>
          </a:solidFill>
          <a:ln/>
        </p:spPr>
      </p:sp>
      <p:pic>
        <p:nvPicPr>
          <p:cNvPr id="5" name="Image 1" descr="preencoded.png">    </p:cNvPr>
          <p:cNvPicPr>
            <a:picLocks noChangeAspect="1"/>
          </p:cNvPicPr>
          <p:nvPr/>
        </p:nvPicPr>
        <p:blipFill>
          <a:blip r:embed="rId2"/>
          <a:stretch>
            <a:fillRect/>
          </a:stretch>
        </p:blipFill>
        <p:spPr>
          <a:xfrm>
            <a:off x="6230957" y="1777484"/>
            <a:ext cx="268248" cy="335280"/>
          </a:xfrm>
          <a:prstGeom prst="rect">
            <a:avLst/>
          </a:prstGeom>
        </p:spPr>
      </p:pic>
      <p:sp>
        <p:nvSpPr>
          <p:cNvPr id="6" name="Text 2"/>
          <p:cNvSpPr/>
          <p:nvPr/>
        </p:nvSpPr>
        <p:spPr>
          <a:xfrm>
            <a:off x="6768703" y="1731407"/>
            <a:ext cx="2235518" cy="279440"/>
          </a:xfrm>
          <a:prstGeom prst="rect">
            <a:avLst/>
          </a:prstGeom>
          <a:noFill/>
          <a:ln/>
        </p:spPr>
        <p:txBody>
          <a:bodyPr wrap="none" lIns="0" tIns="0" rIns="0" bIns="0" rtlCol="0" anchor="t"/>
          <a:lstStyle/>
          <a:p>
            <a:pPr algn="l" indent="0" marL="0">
              <a:lnSpc>
                <a:spcPts val="2200"/>
              </a:lnSpc>
              <a:buNone/>
            </a:pPr>
            <a:r>
              <a:rPr lang="en-US" sz="1750" dirty="0">
                <a:solidFill>
                  <a:srgbClr val="F9EEE7"/>
                </a:solidFill>
                <a:latin typeface="Quattrocento" pitchFamily="34" charset="0"/>
                <a:ea typeface="Quattrocento" pitchFamily="34" charset="-122"/>
                <a:cs typeface="Quattrocento" pitchFamily="34" charset="-120"/>
              </a:rPr>
              <a:t>Enhance Efficiency</a:t>
            </a:r>
            <a:endParaRPr lang="en-US" sz="1750" dirty="0"/>
          </a:p>
        </p:txBody>
      </p:sp>
      <p:sp>
        <p:nvSpPr>
          <p:cNvPr id="7" name="Text 3"/>
          <p:cNvSpPr/>
          <p:nvPr/>
        </p:nvSpPr>
        <p:spPr>
          <a:xfrm>
            <a:off x="6768703" y="2124789"/>
            <a:ext cx="7196733" cy="911900"/>
          </a:xfrm>
          <a:prstGeom prst="rect">
            <a:avLst/>
          </a:prstGeom>
          <a:noFill/>
          <a:ln/>
        </p:spPr>
        <p:txBody>
          <a:bodyPr wrap="square" lIns="0" tIns="0" rIns="0" bIns="0" rtlCol="0" anchor="t"/>
          <a:lstStyle/>
          <a:p>
            <a:pPr algn="l" indent="0" marL="0">
              <a:lnSpc>
                <a:spcPts val="2350"/>
              </a:lnSpc>
              <a:buNone/>
            </a:pPr>
            <a:r>
              <a:rPr lang="en-US" sz="1450" dirty="0">
                <a:solidFill>
                  <a:srgbClr val="F9EEE7"/>
                </a:solidFill>
                <a:latin typeface="Quattrocento" pitchFamily="34" charset="0"/>
                <a:ea typeface="Quattrocento" pitchFamily="34" charset="-122"/>
                <a:cs typeface="Quattrocento" pitchFamily="34" charset="-120"/>
              </a:rPr>
              <a:t>Traditional methods are time-consuming and prone to inaccuracies. With classrooms becoming increasingly larger, accurately recording attendance becomes tedious for teachers.</a:t>
            </a:r>
            <a:endParaRPr lang="en-US" sz="1450" dirty="0"/>
          </a:p>
        </p:txBody>
      </p:sp>
      <p:sp>
        <p:nvSpPr>
          <p:cNvPr id="8" name="Shape 4"/>
          <p:cNvSpPr/>
          <p:nvPr/>
        </p:nvSpPr>
        <p:spPr>
          <a:xfrm>
            <a:off x="6151364" y="3440311"/>
            <a:ext cx="427434" cy="427434"/>
          </a:xfrm>
          <a:prstGeom prst="roundRect">
            <a:avLst>
              <a:gd name="adj" fmla="val 6668"/>
            </a:avLst>
          </a:prstGeom>
          <a:solidFill>
            <a:srgbClr val="315251"/>
          </a:solidFill>
          <a:ln/>
        </p:spPr>
      </p:sp>
      <p:pic>
        <p:nvPicPr>
          <p:cNvPr id="9" name="Image 2" descr="preencoded.png">    </p:cNvPr>
          <p:cNvPicPr>
            <a:picLocks noChangeAspect="1"/>
          </p:cNvPicPr>
          <p:nvPr/>
        </p:nvPicPr>
        <p:blipFill>
          <a:blip r:embed="rId3"/>
          <a:stretch>
            <a:fillRect/>
          </a:stretch>
        </p:blipFill>
        <p:spPr>
          <a:xfrm>
            <a:off x="6230957" y="3486388"/>
            <a:ext cx="268248" cy="335280"/>
          </a:xfrm>
          <a:prstGeom prst="rect">
            <a:avLst/>
          </a:prstGeom>
        </p:spPr>
      </p:pic>
      <p:sp>
        <p:nvSpPr>
          <p:cNvPr id="10" name="Text 5"/>
          <p:cNvSpPr/>
          <p:nvPr/>
        </p:nvSpPr>
        <p:spPr>
          <a:xfrm>
            <a:off x="6768703" y="3440311"/>
            <a:ext cx="2235518" cy="279440"/>
          </a:xfrm>
          <a:prstGeom prst="rect">
            <a:avLst/>
          </a:prstGeom>
          <a:noFill/>
          <a:ln/>
        </p:spPr>
        <p:txBody>
          <a:bodyPr wrap="none" lIns="0" tIns="0" rIns="0" bIns="0" rtlCol="0" anchor="t"/>
          <a:lstStyle/>
          <a:p>
            <a:pPr algn="l" indent="0" marL="0">
              <a:lnSpc>
                <a:spcPts val="2200"/>
              </a:lnSpc>
              <a:buNone/>
            </a:pPr>
            <a:r>
              <a:rPr lang="en-US" sz="1750" dirty="0">
                <a:solidFill>
                  <a:srgbClr val="F9EEE7"/>
                </a:solidFill>
                <a:latin typeface="Quattrocento" pitchFamily="34" charset="0"/>
                <a:ea typeface="Quattrocento" pitchFamily="34" charset="-122"/>
                <a:cs typeface="Quattrocento" pitchFamily="34" charset="-120"/>
              </a:rPr>
              <a:t>Ensure Accuracy</a:t>
            </a:r>
            <a:endParaRPr lang="en-US" sz="1750" dirty="0"/>
          </a:p>
        </p:txBody>
      </p:sp>
      <p:sp>
        <p:nvSpPr>
          <p:cNvPr id="11" name="Text 6"/>
          <p:cNvSpPr/>
          <p:nvPr/>
        </p:nvSpPr>
        <p:spPr>
          <a:xfrm>
            <a:off x="6768703" y="3833693"/>
            <a:ext cx="7196733" cy="911900"/>
          </a:xfrm>
          <a:prstGeom prst="rect">
            <a:avLst/>
          </a:prstGeom>
          <a:noFill/>
          <a:ln/>
        </p:spPr>
        <p:txBody>
          <a:bodyPr wrap="square" lIns="0" tIns="0" rIns="0" bIns="0" rtlCol="0" anchor="t"/>
          <a:lstStyle/>
          <a:p>
            <a:pPr algn="l" indent="0" marL="0">
              <a:lnSpc>
                <a:spcPts val="2350"/>
              </a:lnSpc>
              <a:buNone/>
            </a:pPr>
            <a:r>
              <a:rPr lang="en-US" sz="1450" dirty="0">
                <a:solidFill>
                  <a:srgbClr val="F9EEE7"/>
                </a:solidFill>
                <a:latin typeface="Quattrocento" pitchFamily="34" charset="0"/>
                <a:ea typeface="Quattrocento" pitchFamily="34" charset="-122"/>
                <a:cs typeface="Quattrocento" pitchFamily="34" charset="-120"/>
              </a:rPr>
              <a:t>Manual processes are susceptible to errors and fraud, leading to unreliable attendance records. Advanced facial recognition technology provides greater reliability.</a:t>
            </a:r>
            <a:endParaRPr lang="en-US" sz="1450" dirty="0"/>
          </a:p>
        </p:txBody>
      </p:sp>
      <p:sp>
        <p:nvSpPr>
          <p:cNvPr id="12" name="Shape 7"/>
          <p:cNvSpPr/>
          <p:nvPr/>
        </p:nvSpPr>
        <p:spPr>
          <a:xfrm>
            <a:off x="6151364" y="5149215"/>
            <a:ext cx="427434" cy="427434"/>
          </a:xfrm>
          <a:prstGeom prst="roundRect">
            <a:avLst>
              <a:gd name="adj" fmla="val 6668"/>
            </a:avLst>
          </a:prstGeom>
          <a:solidFill>
            <a:srgbClr val="315251"/>
          </a:solidFill>
          <a:ln/>
        </p:spPr>
      </p:sp>
      <p:pic>
        <p:nvPicPr>
          <p:cNvPr id="13" name="Image 3" descr="preencoded.png">    </p:cNvPr>
          <p:cNvPicPr>
            <a:picLocks noChangeAspect="1"/>
          </p:cNvPicPr>
          <p:nvPr/>
        </p:nvPicPr>
        <p:blipFill>
          <a:blip r:embed="rId4"/>
          <a:stretch>
            <a:fillRect/>
          </a:stretch>
        </p:blipFill>
        <p:spPr>
          <a:xfrm>
            <a:off x="6230957" y="5195292"/>
            <a:ext cx="268248" cy="335280"/>
          </a:xfrm>
          <a:prstGeom prst="rect">
            <a:avLst/>
          </a:prstGeom>
        </p:spPr>
      </p:pic>
      <p:sp>
        <p:nvSpPr>
          <p:cNvPr id="14" name="Text 8"/>
          <p:cNvSpPr/>
          <p:nvPr/>
        </p:nvSpPr>
        <p:spPr>
          <a:xfrm>
            <a:off x="6768703" y="5149215"/>
            <a:ext cx="2235518" cy="279440"/>
          </a:xfrm>
          <a:prstGeom prst="rect">
            <a:avLst/>
          </a:prstGeom>
          <a:noFill/>
          <a:ln/>
        </p:spPr>
        <p:txBody>
          <a:bodyPr wrap="none" lIns="0" tIns="0" rIns="0" bIns="0" rtlCol="0" anchor="t"/>
          <a:lstStyle/>
          <a:p>
            <a:pPr algn="l" indent="0" marL="0">
              <a:lnSpc>
                <a:spcPts val="2200"/>
              </a:lnSpc>
              <a:buNone/>
            </a:pPr>
            <a:r>
              <a:rPr lang="en-US" sz="1750" dirty="0">
                <a:solidFill>
                  <a:srgbClr val="F9EEE7"/>
                </a:solidFill>
                <a:latin typeface="Quattrocento" pitchFamily="34" charset="0"/>
                <a:ea typeface="Quattrocento" pitchFamily="34" charset="-122"/>
                <a:cs typeface="Quattrocento" pitchFamily="34" charset="-120"/>
              </a:rPr>
              <a:t>Real-time Insights</a:t>
            </a:r>
            <a:endParaRPr lang="en-US" sz="1750" dirty="0"/>
          </a:p>
        </p:txBody>
      </p:sp>
      <p:sp>
        <p:nvSpPr>
          <p:cNvPr id="15" name="Text 9"/>
          <p:cNvSpPr/>
          <p:nvPr/>
        </p:nvSpPr>
        <p:spPr>
          <a:xfrm>
            <a:off x="6768703" y="5542598"/>
            <a:ext cx="7196733" cy="607933"/>
          </a:xfrm>
          <a:prstGeom prst="rect">
            <a:avLst/>
          </a:prstGeom>
          <a:noFill/>
          <a:ln/>
        </p:spPr>
        <p:txBody>
          <a:bodyPr wrap="square" lIns="0" tIns="0" rIns="0" bIns="0" rtlCol="0" anchor="t"/>
          <a:lstStyle/>
          <a:p>
            <a:pPr algn="l" indent="0" marL="0">
              <a:lnSpc>
                <a:spcPts val="2350"/>
              </a:lnSpc>
              <a:buNone/>
            </a:pPr>
            <a:r>
              <a:rPr lang="en-US" sz="1450" dirty="0">
                <a:solidFill>
                  <a:srgbClr val="F9EEE7"/>
                </a:solidFill>
                <a:latin typeface="Quattrocento" pitchFamily="34" charset="0"/>
                <a:ea typeface="Quattrocento" pitchFamily="34" charset="-122"/>
                <a:cs typeface="Quattrocento" pitchFamily="34" charset="-120"/>
              </a:rPr>
              <a:t>Traditional methods lack the capability to provide real-time insights into attendance patterns, hampering institutions' ability to monitor attendance effectively.</a:t>
            </a:r>
            <a:endParaRPr lang="en-US" sz="1450" dirty="0"/>
          </a:p>
        </p:txBody>
      </p:sp>
      <p:sp>
        <p:nvSpPr>
          <p:cNvPr id="16" name="Shape 10"/>
          <p:cNvSpPr/>
          <p:nvPr/>
        </p:nvSpPr>
        <p:spPr>
          <a:xfrm>
            <a:off x="6151364" y="6554153"/>
            <a:ext cx="427434" cy="427434"/>
          </a:xfrm>
          <a:prstGeom prst="roundRect">
            <a:avLst>
              <a:gd name="adj" fmla="val 6668"/>
            </a:avLst>
          </a:prstGeom>
          <a:solidFill>
            <a:srgbClr val="315251"/>
          </a:solidFill>
          <a:ln/>
        </p:spPr>
      </p:sp>
      <p:pic>
        <p:nvPicPr>
          <p:cNvPr id="17" name="Image 4" descr="preencoded.png">    </p:cNvPr>
          <p:cNvPicPr>
            <a:picLocks noChangeAspect="1"/>
          </p:cNvPicPr>
          <p:nvPr/>
        </p:nvPicPr>
        <p:blipFill>
          <a:blip r:embed="rId5"/>
          <a:stretch>
            <a:fillRect/>
          </a:stretch>
        </p:blipFill>
        <p:spPr>
          <a:xfrm>
            <a:off x="6230957" y="6600230"/>
            <a:ext cx="268248" cy="335280"/>
          </a:xfrm>
          <a:prstGeom prst="rect">
            <a:avLst/>
          </a:prstGeom>
        </p:spPr>
      </p:pic>
      <p:sp>
        <p:nvSpPr>
          <p:cNvPr id="18" name="Text 11"/>
          <p:cNvSpPr/>
          <p:nvPr/>
        </p:nvSpPr>
        <p:spPr>
          <a:xfrm>
            <a:off x="6768703" y="6554153"/>
            <a:ext cx="2235518" cy="279440"/>
          </a:xfrm>
          <a:prstGeom prst="rect">
            <a:avLst/>
          </a:prstGeom>
          <a:noFill/>
          <a:ln/>
        </p:spPr>
        <p:txBody>
          <a:bodyPr wrap="none" lIns="0" tIns="0" rIns="0" bIns="0" rtlCol="0" anchor="t"/>
          <a:lstStyle/>
          <a:p>
            <a:pPr algn="l" indent="0" marL="0">
              <a:lnSpc>
                <a:spcPts val="2200"/>
              </a:lnSpc>
              <a:buNone/>
            </a:pPr>
            <a:r>
              <a:rPr lang="en-US" sz="1750" dirty="0">
                <a:solidFill>
                  <a:srgbClr val="F9EEE7"/>
                </a:solidFill>
                <a:latin typeface="Quattrocento" pitchFamily="34" charset="0"/>
                <a:ea typeface="Quattrocento" pitchFamily="34" charset="-122"/>
                <a:cs typeface="Quattrocento" pitchFamily="34" charset="-120"/>
              </a:rPr>
              <a:t>User-Friendly Design</a:t>
            </a:r>
            <a:endParaRPr lang="en-US" sz="1750" dirty="0"/>
          </a:p>
        </p:txBody>
      </p:sp>
      <p:sp>
        <p:nvSpPr>
          <p:cNvPr id="19" name="Text 12"/>
          <p:cNvSpPr/>
          <p:nvPr/>
        </p:nvSpPr>
        <p:spPr>
          <a:xfrm>
            <a:off x="6768703" y="6947535"/>
            <a:ext cx="7196733" cy="607933"/>
          </a:xfrm>
          <a:prstGeom prst="rect">
            <a:avLst/>
          </a:prstGeom>
          <a:noFill/>
          <a:ln/>
        </p:spPr>
        <p:txBody>
          <a:bodyPr wrap="square" lIns="0" tIns="0" rIns="0" bIns="0" rtlCol="0" anchor="t"/>
          <a:lstStyle/>
          <a:p>
            <a:pPr algn="l" indent="0" marL="0">
              <a:lnSpc>
                <a:spcPts val="2350"/>
              </a:lnSpc>
              <a:buNone/>
            </a:pPr>
            <a:r>
              <a:rPr lang="en-US" sz="1450" dirty="0">
                <a:solidFill>
                  <a:srgbClr val="F9EEE7"/>
                </a:solidFill>
                <a:latin typeface="Quattrocento" pitchFamily="34" charset="0"/>
                <a:ea typeface="Quattrocento" pitchFamily="34" charset="-122"/>
                <a:cs typeface="Quattrocento" pitchFamily="34" charset="-120"/>
              </a:rPr>
              <a:t>The system aims to seamlessly integrate into existing institutional workflows, providing a solution that is both powerful and accessible to users.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37724" y="762833"/>
            <a:ext cx="7239595" cy="704017"/>
          </a:xfrm>
          <a:prstGeom prst="rect">
            <a:avLst/>
          </a:prstGeom>
          <a:noFill/>
          <a:ln/>
        </p:spPr>
        <p:txBody>
          <a:bodyPr wrap="none" lIns="0" tIns="0" rIns="0" bIns="0" rtlCol="0" anchor="t"/>
          <a:lstStyle/>
          <a:p>
            <a:pPr algn="l" indent="0" marL="0">
              <a:lnSpc>
                <a:spcPts val="5500"/>
              </a:lnSpc>
              <a:buNone/>
            </a:pPr>
            <a:r>
              <a:rPr lang="en-US" sz="4400" dirty="0">
                <a:solidFill>
                  <a:srgbClr val="FFD9BE"/>
                </a:solidFill>
                <a:latin typeface="Quattrocento" pitchFamily="34" charset="0"/>
                <a:ea typeface="Quattrocento" pitchFamily="34" charset="-122"/>
                <a:cs typeface="Quattrocento" pitchFamily="34" charset="-120"/>
              </a:rPr>
              <a:t>Existing Attendance Systems</a:t>
            </a:r>
            <a:endParaRPr lang="en-US" sz="4400" dirty="0"/>
          </a:p>
        </p:txBody>
      </p:sp>
      <p:sp>
        <p:nvSpPr>
          <p:cNvPr id="3" name="Shape 1"/>
          <p:cNvSpPr/>
          <p:nvPr/>
        </p:nvSpPr>
        <p:spPr>
          <a:xfrm>
            <a:off x="837724" y="1945600"/>
            <a:ext cx="6357818" cy="2123242"/>
          </a:xfrm>
          <a:prstGeom prst="roundRect">
            <a:avLst>
              <a:gd name="adj" fmla="val 1691"/>
            </a:avLst>
          </a:prstGeom>
          <a:solidFill>
            <a:srgbClr val="315251"/>
          </a:solidFill>
          <a:ln/>
        </p:spPr>
      </p:sp>
      <p:sp>
        <p:nvSpPr>
          <p:cNvPr id="4" name="Text 2"/>
          <p:cNvSpPr/>
          <p:nvPr/>
        </p:nvSpPr>
        <p:spPr>
          <a:xfrm>
            <a:off x="1077039" y="2184916"/>
            <a:ext cx="3554968" cy="351949"/>
          </a:xfrm>
          <a:prstGeom prst="rect">
            <a:avLst/>
          </a:prstGeom>
          <a:noFill/>
          <a:ln/>
        </p:spPr>
        <p:txBody>
          <a:bodyPr wrap="none" lIns="0" tIns="0" rIns="0" bIns="0" rtlCol="0" anchor="t"/>
          <a:lstStyle/>
          <a:p>
            <a:pPr algn="l" indent="0" marL="0">
              <a:lnSpc>
                <a:spcPts val="2750"/>
              </a:lnSpc>
              <a:buNone/>
            </a:pPr>
            <a:r>
              <a:rPr lang="en-US" sz="2200" dirty="0">
                <a:solidFill>
                  <a:srgbClr val="F9EEE7"/>
                </a:solidFill>
                <a:latin typeface="Quattrocento" pitchFamily="34" charset="0"/>
                <a:ea typeface="Quattrocento" pitchFamily="34" charset="-122"/>
                <a:cs typeface="Quattrocento" pitchFamily="34" charset="-120"/>
              </a:rPr>
              <a:t>Manual Attendance Register</a:t>
            </a:r>
            <a:endParaRPr lang="en-US" sz="2200" dirty="0"/>
          </a:p>
        </p:txBody>
      </p:sp>
      <p:sp>
        <p:nvSpPr>
          <p:cNvPr id="5" name="Text 3"/>
          <p:cNvSpPr/>
          <p:nvPr/>
        </p:nvSpPr>
        <p:spPr>
          <a:xfrm>
            <a:off x="1077039" y="2680454"/>
            <a:ext cx="5879187" cy="1149072"/>
          </a:xfrm>
          <a:prstGeom prst="rect">
            <a:avLst/>
          </a:prstGeom>
          <a:noFill/>
          <a:ln/>
        </p:spPr>
        <p:txBody>
          <a:bodyPr wrap="squar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Involves marking attendance on paper. Highly time-consuming and prone to human errors. Easy to manipulate or forge.</a:t>
            </a:r>
            <a:endParaRPr lang="en-US" sz="1850" dirty="0"/>
          </a:p>
        </p:txBody>
      </p:sp>
      <p:sp>
        <p:nvSpPr>
          <p:cNvPr id="6" name="Shape 4"/>
          <p:cNvSpPr/>
          <p:nvPr/>
        </p:nvSpPr>
        <p:spPr>
          <a:xfrm>
            <a:off x="7434858" y="1945600"/>
            <a:ext cx="6357818" cy="2123242"/>
          </a:xfrm>
          <a:prstGeom prst="roundRect">
            <a:avLst>
              <a:gd name="adj" fmla="val 1691"/>
            </a:avLst>
          </a:prstGeom>
          <a:solidFill>
            <a:srgbClr val="315251"/>
          </a:solidFill>
          <a:ln/>
        </p:spPr>
      </p:sp>
      <p:sp>
        <p:nvSpPr>
          <p:cNvPr id="7" name="Text 5"/>
          <p:cNvSpPr/>
          <p:nvPr/>
        </p:nvSpPr>
        <p:spPr>
          <a:xfrm>
            <a:off x="7674173" y="2184916"/>
            <a:ext cx="2816185" cy="351949"/>
          </a:xfrm>
          <a:prstGeom prst="rect">
            <a:avLst/>
          </a:prstGeom>
          <a:noFill/>
          <a:ln/>
        </p:spPr>
        <p:txBody>
          <a:bodyPr wrap="none" lIns="0" tIns="0" rIns="0" bIns="0" rtlCol="0" anchor="t"/>
          <a:lstStyle/>
          <a:p>
            <a:pPr algn="l" indent="0" marL="0">
              <a:lnSpc>
                <a:spcPts val="2750"/>
              </a:lnSpc>
              <a:buNone/>
            </a:pPr>
            <a:r>
              <a:rPr lang="en-US" sz="2200" dirty="0">
                <a:solidFill>
                  <a:srgbClr val="F9EEE7"/>
                </a:solidFill>
                <a:latin typeface="Quattrocento" pitchFamily="34" charset="0"/>
                <a:ea typeface="Quattrocento" pitchFamily="34" charset="-122"/>
                <a:cs typeface="Quattrocento" pitchFamily="34" charset="-120"/>
              </a:rPr>
              <a:t>Biometric Systems</a:t>
            </a:r>
            <a:endParaRPr lang="en-US" sz="2200" dirty="0"/>
          </a:p>
        </p:txBody>
      </p:sp>
      <p:sp>
        <p:nvSpPr>
          <p:cNvPr id="8" name="Text 6"/>
          <p:cNvSpPr/>
          <p:nvPr/>
        </p:nvSpPr>
        <p:spPr>
          <a:xfrm>
            <a:off x="7674173" y="2680454"/>
            <a:ext cx="5879187" cy="1149072"/>
          </a:xfrm>
          <a:prstGeom prst="rect">
            <a:avLst/>
          </a:prstGeom>
          <a:noFill/>
          <a:ln/>
        </p:spPr>
        <p:txBody>
          <a:bodyPr wrap="squar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Require physical contact for authentication. Can be affected by dirt, cuts, or moisture on fingers. Maintenance issues due to hardware wear and tear.</a:t>
            </a:r>
            <a:endParaRPr lang="en-US" sz="1850" dirty="0"/>
          </a:p>
        </p:txBody>
      </p:sp>
      <p:sp>
        <p:nvSpPr>
          <p:cNvPr id="9" name="Shape 7"/>
          <p:cNvSpPr/>
          <p:nvPr/>
        </p:nvSpPr>
        <p:spPr>
          <a:xfrm>
            <a:off x="837724" y="4308158"/>
            <a:ext cx="6357818" cy="2123242"/>
          </a:xfrm>
          <a:prstGeom prst="roundRect">
            <a:avLst>
              <a:gd name="adj" fmla="val 1691"/>
            </a:avLst>
          </a:prstGeom>
          <a:solidFill>
            <a:srgbClr val="315251"/>
          </a:solidFill>
          <a:ln/>
        </p:spPr>
      </p:sp>
      <p:sp>
        <p:nvSpPr>
          <p:cNvPr id="10" name="Text 8"/>
          <p:cNvSpPr/>
          <p:nvPr/>
        </p:nvSpPr>
        <p:spPr>
          <a:xfrm>
            <a:off x="1077039" y="4547473"/>
            <a:ext cx="2816185" cy="351949"/>
          </a:xfrm>
          <a:prstGeom prst="rect">
            <a:avLst/>
          </a:prstGeom>
          <a:noFill/>
          <a:ln/>
        </p:spPr>
        <p:txBody>
          <a:bodyPr wrap="none" lIns="0" tIns="0" rIns="0" bIns="0" rtlCol="0" anchor="t"/>
          <a:lstStyle/>
          <a:p>
            <a:pPr algn="l" indent="0" marL="0">
              <a:lnSpc>
                <a:spcPts val="2750"/>
              </a:lnSpc>
              <a:buNone/>
            </a:pPr>
            <a:r>
              <a:rPr lang="en-US" sz="2200" dirty="0">
                <a:solidFill>
                  <a:srgbClr val="F9EEE7"/>
                </a:solidFill>
                <a:latin typeface="Quattrocento" pitchFamily="34" charset="0"/>
                <a:ea typeface="Quattrocento" pitchFamily="34" charset="-122"/>
                <a:cs typeface="Quattrocento" pitchFamily="34" charset="-120"/>
              </a:rPr>
              <a:t>RFID Card Systems</a:t>
            </a:r>
            <a:endParaRPr lang="en-US" sz="2200" dirty="0"/>
          </a:p>
        </p:txBody>
      </p:sp>
      <p:sp>
        <p:nvSpPr>
          <p:cNvPr id="11" name="Text 9"/>
          <p:cNvSpPr/>
          <p:nvPr/>
        </p:nvSpPr>
        <p:spPr>
          <a:xfrm>
            <a:off x="1077039" y="5043011"/>
            <a:ext cx="5879187" cy="1149072"/>
          </a:xfrm>
          <a:prstGeom prst="rect">
            <a:avLst/>
          </a:prstGeom>
          <a:noFill/>
          <a:ln/>
        </p:spPr>
        <p:txBody>
          <a:bodyPr wrap="squar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Attendance is marked by scanning an ID card. Cards can be lost, stolen, or used by someone else. Requires regular maintenance of RFID readers and cards.</a:t>
            </a:r>
            <a:endParaRPr lang="en-US" sz="1850" dirty="0"/>
          </a:p>
        </p:txBody>
      </p:sp>
      <p:sp>
        <p:nvSpPr>
          <p:cNvPr id="12" name="Shape 10"/>
          <p:cNvSpPr/>
          <p:nvPr/>
        </p:nvSpPr>
        <p:spPr>
          <a:xfrm>
            <a:off x="7434858" y="4308158"/>
            <a:ext cx="6357818" cy="2123242"/>
          </a:xfrm>
          <a:prstGeom prst="roundRect">
            <a:avLst>
              <a:gd name="adj" fmla="val 1691"/>
            </a:avLst>
          </a:prstGeom>
          <a:solidFill>
            <a:srgbClr val="315251"/>
          </a:solidFill>
          <a:ln/>
        </p:spPr>
      </p:sp>
      <p:sp>
        <p:nvSpPr>
          <p:cNvPr id="13" name="Text 11"/>
          <p:cNvSpPr/>
          <p:nvPr/>
        </p:nvSpPr>
        <p:spPr>
          <a:xfrm>
            <a:off x="7674173" y="4547473"/>
            <a:ext cx="2816185" cy="351949"/>
          </a:xfrm>
          <a:prstGeom prst="rect">
            <a:avLst/>
          </a:prstGeom>
          <a:noFill/>
          <a:ln/>
        </p:spPr>
        <p:txBody>
          <a:bodyPr wrap="none" lIns="0" tIns="0" rIns="0" bIns="0" rtlCol="0" anchor="t"/>
          <a:lstStyle/>
          <a:p>
            <a:pPr algn="l" indent="0" marL="0">
              <a:lnSpc>
                <a:spcPts val="2750"/>
              </a:lnSpc>
              <a:buNone/>
            </a:pPr>
            <a:r>
              <a:rPr lang="en-US" sz="2200" dirty="0">
                <a:solidFill>
                  <a:srgbClr val="F9EEE7"/>
                </a:solidFill>
                <a:latin typeface="Quattrocento" pitchFamily="34" charset="0"/>
                <a:ea typeface="Quattrocento" pitchFamily="34" charset="-122"/>
                <a:cs typeface="Quattrocento" pitchFamily="34" charset="-120"/>
              </a:rPr>
              <a:t>Mobile App Check-ins</a:t>
            </a:r>
            <a:endParaRPr lang="en-US" sz="2200" dirty="0"/>
          </a:p>
        </p:txBody>
      </p:sp>
      <p:sp>
        <p:nvSpPr>
          <p:cNvPr id="14" name="Text 12"/>
          <p:cNvSpPr/>
          <p:nvPr/>
        </p:nvSpPr>
        <p:spPr>
          <a:xfrm>
            <a:off x="7674173" y="5043011"/>
            <a:ext cx="5879187" cy="1149072"/>
          </a:xfrm>
          <a:prstGeom prst="rect">
            <a:avLst/>
          </a:prstGeom>
          <a:noFill/>
          <a:ln/>
        </p:spPr>
        <p:txBody>
          <a:bodyPr wrap="squar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Can be manipulated using location spoofing apps. Not reliable in poor GPS connectivity zones. Raises privacy concerns among users.</a:t>
            </a:r>
            <a:endParaRPr lang="en-US" sz="1850" dirty="0"/>
          </a:p>
        </p:txBody>
      </p:sp>
      <p:sp>
        <p:nvSpPr>
          <p:cNvPr id="15" name="Text 13"/>
          <p:cNvSpPr/>
          <p:nvPr/>
        </p:nvSpPr>
        <p:spPr>
          <a:xfrm>
            <a:off x="837724" y="6700599"/>
            <a:ext cx="12954952" cy="766048"/>
          </a:xfrm>
          <a:prstGeom prst="rect">
            <a:avLst/>
          </a:prstGeom>
          <a:noFill/>
          <a:ln/>
        </p:spPr>
        <p:txBody>
          <a:bodyPr wrap="squar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All these systems have limitations in terms of security, user-friendliness, and scalability. They often require physical interaction, making them less effective in post-pandemic or contactless environments.</a:t>
            </a:r>
            <a:endParaRPr lang="en-US" sz="1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07839" y="819388"/>
            <a:ext cx="5431274" cy="678894"/>
          </a:xfrm>
          <a:prstGeom prst="rect">
            <a:avLst/>
          </a:prstGeom>
          <a:noFill/>
          <a:ln/>
        </p:spPr>
        <p:txBody>
          <a:bodyPr wrap="none" lIns="0" tIns="0" rIns="0" bIns="0" rtlCol="0" anchor="t"/>
          <a:lstStyle/>
          <a:p>
            <a:pPr algn="l" indent="0" marL="0">
              <a:lnSpc>
                <a:spcPts val="5300"/>
              </a:lnSpc>
              <a:buNone/>
            </a:pPr>
            <a:r>
              <a:rPr lang="en-US" sz="4250" dirty="0">
                <a:solidFill>
                  <a:srgbClr val="FFD9BE"/>
                </a:solidFill>
                <a:latin typeface="Quattrocento" pitchFamily="34" charset="0"/>
                <a:ea typeface="Quattrocento" pitchFamily="34" charset="-122"/>
                <a:cs typeface="Quattrocento" pitchFamily="34" charset="-120"/>
              </a:rPr>
              <a:t>Scope of the System</a:t>
            </a:r>
            <a:endParaRPr lang="en-US" sz="4250" dirty="0"/>
          </a:p>
        </p:txBody>
      </p:sp>
      <p:sp>
        <p:nvSpPr>
          <p:cNvPr id="3" name="Text 1"/>
          <p:cNvSpPr/>
          <p:nvPr/>
        </p:nvSpPr>
        <p:spPr>
          <a:xfrm>
            <a:off x="2322076" y="2442924"/>
            <a:ext cx="2715578" cy="339447"/>
          </a:xfrm>
          <a:prstGeom prst="rect">
            <a:avLst/>
          </a:prstGeom>
          <a:noFill/>
          <a:ln/>
        </p:spPr>
        <p:txBody>
          <a:bodyPr wrap="none" lIns="0" tIns="0" rIns="0" bIns="0" rtlCol="0" anchor="t"/>
          <a:lstStyle/>
          <a:p>
            <a:pPr algn="r" indent="0" marL="0">
              <a:lnSpc>
                <a:spcPts val="2650"/>
              </a:lnSpc>
              <a:buNone/>
            </a:pPr>
            <a:r>
              <a:rPr lang="en-US" sz="2100" dirty="0">
                <a:solidFill>
                  <a:srgbClr val="F9EEE7"/>
                </a:solidFill>
                <a:latin typeface="Quattrocento" pitchFamily="34" charset="0"/>
                <a:ea typeface="Quattrocento" pitchFamily="34" charset="-122"/>
                <a:cs typeface="Quattrocento" pitchFamily="34" charset="-120"/>
              </a:rPr>
              <a:t>Automated Recording</a:t>
            </a:r>
            <a:endParaRPr lang="en-US" sz="2100" dirty="0"/>
          </a:p>
        </p:txBody>
      </p:sp>
      <p:sp>
        <p:nvSpPr>
          <p:cNvPr id="4" name="Text 2"/>
          <p:cNvSpPr/>
          <p:nvPr/>
        </p:nvSpPr>
        <p:spPr>
          <a:xfrm>
            <a:off x="807839" y="2920841"/>
            <a:ext cx="4229814" cy="1107996"/>
          </a:xfrm>
          <a:prstGeom prst="rect">
            <a:avLst/>
          </a:prstGeom>
          <a:noFill/>
          <a:ln/>
        </p:spPr>
        <p:txBody>
          <a:bodyPr wrap="square" lIns="0" tIns="0" rIns="0" bIns="0" rtlCol="0" anchor="t"/>
          <a:lstStyle/>
          <a:p>
            <a:pPr algn="r" indent="0" marL="0">
              <a:lnSpc>
                <a:spcPts val="2900"/>
              </a:lnSpc>
              <a:buNone/>
            </a:pPr>
            <a:r>
              <a:rPr lang="en-US" sz="1800" dirty="0">
                <a:solidFill>
                  <a:srgbClr val="F9EEE7"/>
                </a:solidFill>
                <a:latin typeface="Quattrocento" pitchFamily="34" charset="0"/>
                <a:ea typeface="Quattrocento" pitchFamily="34" charset="-122"/>
                <a:cs typeface="Quattrocento" pitchFamily="34" charset="-120"/>
              </a:rPr>
              <a:t>Record attendance of individuals automatically using facial recognition technology.</a:t>
            </a:r>
            <a:endParaRPr lang="en-US" sz="1800" dirty="0"/>
          </a:p>
        </p:txBody>
      </p:sp>
      <p:pic>
        <p:nvPicPr>
          <p:cNvPr id="5" name="Image 0" descr="preencoded.png">    </p:cNvPr>
          <p:cNvPicPr>
            <a:picLocks noChangeAspect="1"/>
          </p:cNvPicPr>
          <p:nvPr/>
        </p:nvPicPr>
        <p:blipFill>
          <a:blip r:embed="rId1"/>
          <a:stretch>
            <a:fillRect/>
          </a:stretch>
        </p:blipFill>
        <p:spPr>
          <a:xfrm>
            <a:off x="5037653" y="2407444"/>
            <a:ext cx="4555093" cy="4555093"/>
          </a:xfrm>
          <a:prstGeom prst="rect">
            <a:avLst/>
          </a:prstGeom>
        </p:spPr>
      </p:pic>
      <p:pic>
        <p:nvPicPr>
          <p:cNvPr id="6" name="Image 1" descr="preencoded.png">    </p:cNvPr>
          <p:cNvPicPr>
            <a:picLocks noChangeAspect="1"/>
          </p:cNvPicPr>
          <p:nvPr/>
        </p:nvPicPr>
        <p:blipFill>
          <a:blip r:embed="rId2"/>
          <a:stretch>
            <a:fillRect/>
          </a:stretch>
        </p:blipFill>
        <p:spPr>
          <a:xfrm>
            <a:off x="6203990" y="3792617"/>
            <a:ext cx="324564" cy="405646"/>
          </a:xfrm>
          <a:prstGeom prst="rect">
            <a:avLst/>
          </a:prstGeom>
        </p:spPr>
      </p:pic>
      <p:sp>
        <p:nvSpPr>
          <p:cNvPr id="7" name="Text 3"/>
          <p:cNvSpPr/>
          <p:nvPr/>
        </p:nvSpPr>
        <p:spPr>
          <a:xfrm>
            <a:off x="9592747" y="1959888"/>
            <a:ext cx="2715578" cy="339447"/>
          </a:xfrm>
          <a:prstGeom prst="rect">
            <a:avLst/>
          </a:prstGeom>
          <a:noFill/>
          <a:ln/>
        </p:spPr>
        <p:txBody>
          <a:bodyPr wrap="none" lIns="0" tIns="0" rIns="0" bIns="0" rtlCol="0" anchor="t"/>
          <a:lstStyle/>
          <a:p>
            <a:pPr algn="l" indent="0" marL="0">
              <a:lnSpc>
                <a:spcPts val="2650"/>
              </a:lnSpc>
              <a:buNone/>
            </a:pPr>
            <a:r>
              <a:rPr lang="en-US" sz="2100" dirty="0">
                <a:solidFill>
                  <a:srgbClr val="F9EEE7"/>
                </a:solidFill>
                <a:latin typeface="Quattrocento" pitchFamily="34" charset="0"/>
                <a:ea typeface="Quattrocento" pitchFamily="34" charset="-122"/>
                <a:cs typeface="Quattrocento" pitchFamily="34" charset="-120"/>
              </a:rPr>
              <a:t>Secure Storage</a:t>
            </a:r>
            <a:endParaRPr lang="en-US" sz="2100" dirty="0"/>
          </a:p>
        </p:txBody>
      </p:sp>
      <p:sp>
        <p:nvSpPr>
          <p:cNvPr id="8" name="Text 4"/>
          <p:cNvSpPr/>
          <p:nvPr/>
        </p:nvSpPr>
        <p:spPr>
          <a:xfrm>
            <a:off x="9592747" y="2437805"/>
            <a:ext cx="4229814" cy="1107996"/>
          </a:xfrm>
          <a:prstGeom prst="rect">
            <a:avLst/>
          </a:prstGeom>
          <a:noFill/>
          <a:ln/>
        </p:spPr>
        <p:txBody>
          <a:bodyPr wrap="square" lIns="0" tIns="0" rIns="0" bIns="0" rtlCol="0" anchor="t"/>
          <a:lstStyle/>
          <a:p>
            <a:pPr algn="l" indent="0" marL="0">
              <a:lnSpc>
                <a:spcPts val="2900"/>
              </a:lnSpc>
              <a:buNone/>
            </a:pPr>
            <a:r>
              <a:rPr lang="en-US" sz="1800" dirty="0">
                <a:solidFill>
                  <a:srgbClr val="F9EEE7"/>
                </a:solidFill>
                <a:latin typeface="Quattrocento" pitchFamily="34" charset="0"/>
                <a:ea typeface="Quattrocento" pitchFamily="34" charset="-122"/>
                <a:cs typeface="Quattrocento" pitchFamily="34" charset="-120"/>
              </a:rPr>
              <a:t>Store attendance data in a secure database with robust protection measures.</a:t>
            </a:r>
            <a:endParaRPr lang="en-US" sz="1800" dirty="0"/>
          </a:p>
        </p:txBody>
      </p:sp>
      <p:pic>
        <p:nvPicPr>
          <p:cNvPr id="9" name="Image 2" descr="preencoded.png">    </p:cNvPr>
          <p:cNvPicPr>
            <a:picLocks noChangeAspect="1"/>
          </p:cNvPicPr>
          <p:nvPr/>
        </p:nvPicPr>
        <p:blipFill>
          <a:blip r:embed="rId3"/>
          <a:stretch>
            <a:fillRect/>
          </a:stretch>
        </p:blipFill>
        <p:spPr>
          <a:xfrm>
            <a:off x="5037653" y="2407444"/>
            <a:ext cx="4555093" cy="4555093"/>
          </a:xfrm>
          <a:prstGeom prst="rect">
            <a:avLst/>
          </a:prstGeom>
        </p:spPr>
      </p:pic>
      <p:pic>
        <p:nvPicPr>
          <p:cNvPr id="10" name="Image 3" descr="preencoded.png">    </p:cNvPr>
          <p:cNvPicPr>
            <a:picLocks noChangeAspect="1"/>
          </p:cNvPicPr>
          <p:nvPr/>
        </p:nvPicPr>
        <p:blipFill>
          <a:blip r:embed="rId4"/>
          <a:stretch>
            <a:fillRect/>
          </a:stretch>
        </p:blipFill>
        <p:spPr>
          <a:xfrm>
            <a:off x="7515344" y="3366492"/>
            <a:ext cx="324564" cy="405646"/>
          </a:xfrm>
          <a:prstGeom prst="rect">
            <a:avLst/>
          </a:prstGeom>
        </p:spPr>
      </p:pic>
      <p:sp>
        <p:nvSpPr>
          <p:cNvPr id="11" name="Text 5"/>
          <p:cNvSpPr/>
          <p:nvPr/>
        </p:nvSpPr>
        <p:spPr>
          <a:xfrm>
            <a:off x="10054352" y="3892034"/>
            <a:ext cx="2715578" cy="339447"/>
          </a:xfrm>
          <a:prstGeom prst="rect">
            <a:avLst/>
          </a:prstGeom>
          <a:noFill/>
          <a:ln/>
        </p:spPr>
        <p:txBody>
          <a:bodyPr wrap="none" lIns="0" tIns="0" rIns="0" bIns="0" rtlCol="0" anchor="t"/>
          <a:lstStyle/>
          <a:p>
            <a:pPr algn="l" indent="0" marL="0">
              <a:lnSpc>
                <a:spcPts val="2650"/>
              </a:lnSpc>
              <a:buNone/>
            </a:pPr>
            <a:r>
              <a:rPr lang="en-US" sz="2100" dirty="0">
                <a:solidFill>
                  <a:srgbClr val="F9EEE7"/>
                </a:solidFill>
                <a:latin typeface="Quattrocento" pitchFamily="34" charset="0"/>
                <a:ea typeface="Quattrocento" pitchFamily="34" charset="-122"/>
                <a:cs typeface="Quattrocento" pitchFamily="34" charset="-120"/>
              </a:rPr>
              <a:t>Reporting</a:t>
            </a:r>
            <a:endParaRPr lang="en-US" sz="2100" dirty="0"/>
          </a:p>
        </p:txBody>
      </p:sp>
      <p:sp>
        <p:nvSpPr>
          <p:cNvPr id="12" name="Text 6"/>
          <p:cNvSpPr/>
          <p:nvPr/>
        </p:nvSpPr>
        <p:spPr>
          <a:xfrm>
            <a:off x="10054352" y="4369951"/>
            <a:ext cx="3768209" cy="1107996"/>
          </a:xfrm>
          <a:prstGeom prst="rect">
            <a:avLst/>
          </a:prstGeom>
          <a:noFill/>
          <a:ln/>
        </p:spPr>
        <p:txBody>
          <a:bodyPr wrap="square" lIns="0" tIns="0" rIns="0" bIns="0" rtlCol="0" anchor="t"/>
          <a:lstStyle/>
          <a:p>
            <a:pPr algn="l" indent="0" marL="0">
              <a:lnSpc>
                <a:spcPts val="2900"/>
              </a:lnSpc>
              <a:buNone/>
            </a:pPr>
            <a:r>
              <a:rPr lang="en-US" sz="1800" dirty="0">
                <a:solidFill>
                  <a:srgbClr val="F9EEE7"/>
                </a:solidFill>
                <a:latin typeface="Quattrocento" pitchFamily="34" charset="0"/>
                <a:ea typeface="Quattrocento" pitchFamily="34" charset="-122"/>
                <a:cs typeface="Quattrocento" pitchFamily="34" charset="-120"/>
              </a:rPr>
              <a:t>Generate comprehensive reports for specific timeframes and departments.</a:t>
            </a:r>
            <a:endParaRPr lang="en-US" sz="1800" dirty="0"/>
          </a:p>
        </p:txBody>
      </p:sp>
      <p:pic>
        <p:nvPicPr>
          <p:cNvPr id="13" name="Image 4" descr="preencoded.png">    </p:cNvPr>
          <p:cNvPicPr>
            <a:picLocks noChangeAspect="1"/>
          </p:cNvPicPr>
          <p:nvPr/>
        </p:nvPicPr>
        <p:blipFill>
          <a:blip r:embed="rId5"/>
          <a:stretch>
            <a:fillRect/>
          </a:stretch>
        </p:blipFill>
        <p:spPr>
          <a:xfrm>
            <a:off x="5037653" y="2407444"/>
            <a:ext cx="4555093" cy="4555093"/>
          </a:xfrm>
          <a:prstGeom prst="rect">
            <a:avLst/>
          </a:prstGeom>
        </p:spPr>
      </p:pic>
      <p:pic>
        <p:nvPicPr>
          <p:cNvPr id="14" name="Image 5" descr="preencoded.png">    </p:cNvPr>
          <p:cNvPicPr>
            <a:picLocks noChangeAspect="1"/>
          </p:cNvPicPr>
          <p:nvPr/>
        </p:nvPicPr>
        <p:blipFill>
          <a:blip r:embed="rId6"/>
          <a:stretch>
            <a:fillRect/>
          </a:stretch>
        </p:blipFill>
        <p:spPr>
          <a:xfrm>
            <a:off x="8325803" y="4482108"/>
            <a:ext cx="324564" cy="405646"/>
          </a:xfrm>
          <a:prstGeom prst="rect">
            <a:avLst/>
          </a:prstGeom>
        </p:spPr>
      </p:pic>
      <p:sp>
        <p:nvSpPr>
          <p:cNvPr id="15" name="Text 7"/>
          <p:cNvSpPr/>
          <p:nvPr/>
        </p:nvSpPr>
        <p:spPr>
          <a:xfrm>
            <a:off x="9592747" y="5824180"/>
            <a:ext cx="2715578" cy="339447"/>
          </a:xfrm>
          <a:prstGeom prst="rect">
            <a:avLst/>
          </a:prstGeom>
          <a:noFill/>
          <a:ln/>
        </p:spPr>
        <p:txBody>
          <a:bodyPr wrap="none" lIns="0" tIns="0" rIns="0" bIns="0" rtlCol="0" anchor="t"/>
          <a:lstStyle/>
          <a:p>
            <a:pPr algn="l" indent="0" marL="0">
              <a:lnSpc>
                <a:spcPts val="2650"/>
              </a:lnSpc>
              <a:buNone/>
            </a:pPr>
            <a:r>
              <a:rPr lang="en-US" sz="2100" dirty="0">
                <a:solidFill>
                  <a:srgbClr val="F9EEE7"/>
                </a:solidFill>
                <a:latin typeface="Quattrocento" pitchFamily="34" charset="0"/>
                <a:ea typeface="Quattrocento" pitchFamily="34" charset="-122"/>
                <a:cs typeface="Quattrocento" pitchFamily="34" charset="-120"/>
              </a:rPr>
              <a:t>Scalability</a:t>
            </a:r>
            <a:endParaRPr lang="en-US" sz="2100" dirty="0"/>
          </a:p>
        </p:txBody>
      </p:sp>
      <p:sp>
        <p:nvSpPr>
          <p:cNvPr id="16" name="Text 8"/>
          <p:cNvSpPr/>
          <p:nvPr/>
        </p:nvSpPr>
        <p:spPr>
          <a:xfrm>
            <a:off x="9592747" y="6302097"/>
            <a:ext cx="4229814" cy="1107996"/>
          </a:xfrm>
          <a:prstGeom prst="rect">
            <a:avLst/>
          </a:prstGeom>
          <a:noFill/>
          <a:ln/>
        </p:spPr>
        <p:txBody>
          <a:bodyPr wrap="square" lIns="0" tIns="0" rIns="0" bIns="0" rtlCol="0" anchor="t"/>
          <a:lstStyle/>
          <a:p>
            <a:pPr algn="l" indent="0" marL="0">
              <a:lnSpc>
                <a:spcPts val="2900"/>
              </a:lnSpc>
              <a:buNone/>
            </a:pPr>
            <a:r>
              <a:rPr lang="en-US" sz="1800" dirty="0">
                <a:solidFill>
                  <a:srgbClr val="F9EEE7"/>
                </a:solidFill>
                <a:latin typeface="Quattrocento" pitchFamily="34" charset="0"/>
                <a:ea typeface="Quattrocento" pitchFamily="34" charset="-122"/>
                <a:cs typeface="Quattrocento" pitchFamily="34" charset="-120"/>
              </a:rPr>
              <a:t>Support multiple departments or classes within a single institution and be deployable across distributed campuses.</a:t>
            </a:r>
            <a:endParaRPr lang="en-US" sz="1800" dirty="0"/>
          </a:p>
        </p:txBody>
      </p:sp>
      <p:pic>
        <p:nvPicPr>
          <p:cNvPr id="17" name="Image 6" descr="preencoded.png">    </p:cNvPr>
          <p:cNvPicPr>
            <a:picLocks noChangeAspect="1"/>
          </p:cNvPicPr>
          <p:nvPr/>
        </p:nvPicPr>
        <p:blipFill>
          <a:blip r:embed="rId7"/>
          <a:stretch>
            <a:fillRect/>
          </a:stretch>
        </p:blipFill>
        <p:spPr>
          <a:xfrm>
            <a:off x="5037653" y="2407444"/>
            <a:ext cx="4555093" cy="4555093"/>
          </a:xfrm>
          <a:prstGeom prst="rect">
            <a:avLst/>
          </a:prstGeom>
        </p:spPr>
      </p:pic>
      <p:pic>
        <p:nvPicPr>
          <p:cNvPr id="18" name="Image 7" descr="preencoded.png">    </p:cNvPr>
          <p:cNvPicPr>
            <a:picLocks noChangeAspect="1"/>
          </p:cNvPicPr>
          <p:nvPr/>
        </p:nvPicPr>
        <p:blipFill>
          <a:blip r:embed="rId8"/>
          <a:stretch>
            <a:fillRect/>
          </a:stretch>
        </p:blipFill>
        <p:spPr>
          <a:xfrm>
            <a:off x="7515344" y="5597604"/>
            <a:ext cx="324564" cy="405646"/>
          </a:xfrm>
          <a:prstGeom prst="rect">
            <a:avLst/>
          </a:prstGeom>
        </p:spPr>
      </p:pic>
      <p:sp>
        <p:nvSpPr>
          <p:cNvPr id="19" name="Text 9"/>
          <p:cNvSpPr/>
          <p:nvPr/>
        </p:nvSpPr>
        <p:spPr>
          <a:xfrm>
            <a:off x="2322076" y="5341144"/>
            <a:ext cx="2715578" cy="339447"/>
          </a:xfrm>
          <a:prstGeom prst="rect">
            <a:avLst/>
          </a:prstGeom>
          <a:noFill/>
          <a:ln/>
        </p:spPr>
        <p:txBody>
          <a:bodyPr wrap="none" lIns="0" tIns="0" rIns="0" bIns="0" rtlCol="0" anchor="t"/>
          <a:lstStyle/>
          <a:p>
            <a:pPr algn="r" indent="0" marL="0">
              <a:lnSpc>
                <a:spcPts val="2650"/>
              </a:lnSpc>
              <a:buNone/>
            </a:pPr>
            <a:r>
              <a:rPr lang="en-US" sz="2100" dirty="0">
                <a:solidFill>
                  <a:srgbClr val="F9EEE7"/>
                </a:solidFill>
                <a:latin typeface="Quattrocento" pitchFamily="34" charset="0"/>
                <a:ea typeface="Quattrocento" pitchFamily="34" charset="-122"/>
                <a:cs typeface="Quattrocento" pitchFamily="34" charset="-120"/>
              </a:rPr>
              <a:t>Analytics</a:t>
            </a:r>
            <a:endParaRPr lang="en-US" sz="2100" dirty="0"/>
          </a:p>
        </p:txBody>
      </p:sp>
      <p:sp>
        <p:nvSpPr>
          <p:cNvPr id="20" name="Text 10"/>
          <p:cNvSpPr/>
          <p:nvPr/>
        </p:nvSpPr>
        <p:spPr>
          <a:xfrm>
            <a:off x="807839" y="5819061"/>
            <a:ext cx="4229814" cy="1107996"/>
          </a:xfrm>
          <a:prstGeom prst="rect">
            <a:avLst/>
          </a:prstGeom>
          <a:noFill/>
          <a:ln/>
        </p:spPr>
        <p:txBody>
          <a:bodyPr wrap="square" lIns="0" tIns="0" rIns="0" bIns="0" rtlCol="0" anchor="t"/>
          <a:lstStyle/>
          <a:p>
            <a:pPr algn="r" indent="0" marL="0">
              <a:lnSpc>
                <a:spcPts val="2900"/>
              </a:lnSpc>
              <a:buNone/>
            </a:pPr>
            <a:r>
              <a:rPr lang="en-US" sz="1800" dirty="0">
                <a:solidFill>
                  <a:srgbClr val="F9EEE7"/>
                </a:solidFill>
                <a:latin typeface="Quattrocento" pitchFamily="34" charset="0"/>
                <a:ea typeface="Quattrocento" pitchFamily="34" charset="-122"/>
                <a:cs typeface="Quattrocento" pitchFamily="34" charset="-120"/>
              </a:rPr>
              <a:t>Provide administrative insights and analytics dashboards for attendance trends.</a:t>
            </a:r>
            <a:endParaRPr lang="en-US" sz="1800" dirty="0"/>
          </a:p>
        </p:txBody>
      </p:sp>
      <p:pic>
        <p:nvPicPr>
          <p:cNvPr id="21" name="Image 8" descr="preencoded.png">    </p:cNvPr>
          <p:cNvPicPr>
            <a:picLocks noChangeAspect="1"/>
          </p:cNvPicPr>
          <p:nvPr/>
        </p:nvPicPr>
        <p:blipFill>
          <a:blip r:embed="rId9"/>
          <a:stretch>
            <a:fillRect/>
          </a:stretch>
        </p:blipFill>
        <p:spPr>
          <a:xfrm>
            <a:off x="5037653" y="2407444"/>
            <a:ext cx="4555093" cy="4555093"/>
          </a:xfrm>
          <a:prstGeom prst="rect">
            <a:avLst/>
          </a:prstGeom>
        </p:spPr>
      </p:pic>
      <p:pic>
        <p:nvPicPr>
          <p:cNvPr id="22" name="Image 9" descr="preencoded.png">    </p:cNvPr>
          <p:cNvPicPr>
            <a:picLocks noChangeAspect="1"/>
          </p:cNvPicPr>
          <p:nvPr/>
        </p:nvPicPr>
        <p:blipFill>
          <a:blip r:embed="rId10"/>
          <a:stretch>
            <a:fillRect/>
          </a:stretch>
        </p:blipFill>
        <p:spPr>
          <a:xfrm>
            <a:off x="6203990" y="5171480"/>
            <a:ext cx="324564" cy="40564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591503" y="714613"/>
            <a:ext cx="3976449" cy="497086"/>
          </a:xfrm>
          <a:prstGeom prst="rect">
            <a:avLst/>
          </a:prstGeom>
          <a:noFill/>
          <a:ln/>
        </p:spPr>
        <p:txBody>
          <a:bodyPr wrap="none" lIns="0" tIns="0" rIns="0" bIns="0" rtlCol="0" anchor="t"/>
          <a:lstStyle/>
          <a:p>
            <a:pPr algn="l" indent="0" marL="0">
              <a:lnSpc>
                <a:spcPts val="3900"/>
              </a:lnSpc>
              <a:buNone/>
            </a:pPr>
            <a:r>
              <a:rPr lang="en-US" sz="3100" dirty="0">
                <a:solidFill>
                  <a:srgbClr val="FFD9BE"/>
                </a:solidFill>
                <a:latin typeface="Quattrocento" pitchFamily="34" charset="0"/>
                <a:ea typeface="Quattrocento" pitchFamily="34" charset="-122"/>
                <a:cs typeface="Quattrocento" pitchFamily="34" charset="-120"/>
              </a:rPr>
              <a:t>Key Features</a:t>
            </a:r>
            <a:endParaRPr lang="en-US" sz="3100" dirty="0"/>
          </a:p>
        </p:txBody>
      </p:sp>
      <p:pic>
        <p:nvPicPr>
          <p:cNvPr id="4" name="Image 1" descr="preencoded.png">    </p:cNvPr>
          <p:cNvPicPr>
            <a:picLocks noChangeAspect="1"/>
          </p:cNvPicPr>
          <p:nvPr/>
        </p:nvPicPr>
        <p:blipFill>
          <a:blip r:embed="rId2"/>
          <a:stretch>
            <a:fillRect/>
          </a:stretch>
        </p:blipFill>
        <p:spPr>
          <a:xfrm>
            <a:off x="591503" y="1494711"/>
            <a:ext cx="422434" cy="422434"/>
          </a:xfrm>
          <a:prstGeom prst="rect">
            <a:avLst/>
          </a:prstGeom>
        </p:spPr>
      </p:pic>
      <p:sp>
        <p:nvSpPr>
          <p:cNvPr id="5" name="Text 1"/>
          <p:cNvSpPr/>
          <p:nvPr/>
        </p:nvSpPr>
        <p:spPr>
          <a:xfrm>
            <a:off x="1182886" y="1465183"/>
            <a:ext cx="1893213" cy="248483"/>
          </a:xfrm>
          <a:prstGeom prst="rect">
            <a:avLst/>
          </a:prstGeom>
          <a:noFill/>
          <a:ln/>
        </p:spPr>
        <p:txBody>
          <a:bodyPr wrap="none" lIns="0" tIns="0" rIns="0" bIns="0" rtlCol="0" anchor="t"/>
          <a:lstStyle/>
          <a:p>
            <a:pPr algn="l" indent="0" marL="0">
              <a:lnSpc>
                <a:spcPts val="1950"/>
              </a:lnSpc>
              <a:buNone/>
            </a:pPr>
            <a:r>
              <a:rPr lang="en-US" sz="1550" dirty="0">
                <a:solidFill>
                  <a:srgbClr val="F9EEE7"/>
                </a:solidFill>
                <a:latin typeface="Quattrocento" pitchFamily="34" charset="0"/>
                <a:ea typeface="Quattrocento" pitchFamily="34" charset="-122"/>
                <a:cs typeface="Quattrocento" pitchFamily="34" charset="-120"/>
              </a:rPr>
              <a:t>Face Recognition</a:t>
            </a:r>
            <a:endParaRPr lang="en-US" sz="1550" dirty="0"/>
          </a:p>
        </p:txBody>
      </p:sp>
      <p:sp>
        <p:nvSpPr>
          <p:cNvPr id="6" name="Text 2"/>
          <p:cNvSpPr/>
          <p:nvPr/>
        </p:nvSpPr>
        <p:spPr>
          <a:xfrm>
            <a:off x="1182886" y="1814989"/>
            <a:ext cx="1893213" cy="1891903"/>
          </a:xfrm>
          <a:prstGeom prst="rect">
            <a:avLst/>
          </a:prstGeom>
          <a:noFill/>
          <a:ln/>
        </p:spPr>
        <p:txBody>
          <a:bodyPr wrap="square" lIns="0" tIns="0" rIns="0" bIns="0" rtlCol="0" anchor="t"/>
          <a:lstStyle/>
          <a:p>
            <a:pPr algn="l" indent="0" marL="0">
              <a:lnSpc>
                <a:spcPts val="2100"/>
              </a:lnSpc>
              <a:buNone/>
            </a:pPr>
            <a:r>
              <a:rPr lang="en-US" sz="1300" dirty="0">
                <a:solidFill>
                  <a:srgbClr val="F9EEE7"/>
                </a:solidFill>
                <a:latin typeface="Quattrocento" pitchFamily="34" charset="0"/>
                <a:ea typeface="Quattrocento" pitchFamily="34" charset="-122"/>
                <a:cs typeface="Quattrocento" pitchFamily="34" charset="-120"/>
              </a:rPr>
              <a:t>Identifies and matches faces from a dataset using deep learning-based facial recognition. Supports real-time and batch processing of face images.</a:t>
            </a:r>
            <a:endParaRPr lang="en-US" sz="1300" dirty="0"/>
          </a:p>
        </p:txBody>
      </p:sp>
      <p:pic>
        <p:nvPicPr>
          <p:cNvPr id="7" name="Image 2" descr="preencoded.png">    </p:cNvPr>
          <p:cNvPicPr>
            <a:picLocks noChangeAspect="1"/>
          </p:cNvPicPr>
          <p:nvPr/>
        </p:nvPicPr>
        <p:blipFill>
          <a:blip r:embed="rId3"/>
          <a:stretch>
            <a:fillRect/>
          </a:stretch>
        </p:blipFill>
        <p:spPr>
          <a:xfrm>
            <a:off x="3329583" y="1494711"/>
            <a:ext cx="422434" cy="422434"/>
          </a:xfrm>
          <a:prstGeom prst="rect">
            <a:avLst/>
          </a:prstGeom>
        </p:spPr>
      </p:pic>
      <p:sp>
        <p:nvSpPr>
          <p:cNvPr id="8" name="Text 3"/>
          <p:cNvSpPr/>
          <p:nvPr/>
        </p:nvSpPr>
        <p:spPr>
          <a:xfrm>
            <a:off x="3920966" y="1465183"/>
            <a:ext cx="1893332" cy="496967"/>
          </a:xfrm>
          <a:prstGeom prst="rect">
            <a:avLst/>
          </a:prstGeom>
          <a:noFill/>
          <a:ln/>
        </p:spPr>
        <p:txBody>
          <a:bodyPr wrap="square" lIns="0" tIns="0" rIns="0" bIns="0" rtlCol="0" anchor="t"/>
          <a:lstStyle/>
          <a:p>
            <a:pPr algn="l" indent="0" marL="0">
              <a:lnSpc>
                <a:spcPts val="1950"/>
              </a:lnSpc>
              <a:buNone/>
            </a:pPr>
            <a:r>
              <a:rPr lang="en-US" sz="1550" dirty="0">
                <a:solidFill>
                  <a:srgbClr val="F9EEE7"/>
                </a:solidFill>
                <a:latin typeface="Quattrocento" pitchFamily="34" charset="0"/>
                <a:ea typeface="Quattrocento" pitchFamily="34" charset="-122"/>
                <a:cs typeface="Quattrocento" pitchFamily="34" charset="-120"/>
              </a:rPr>
              <a:t>Face Similarity Scoring</a:t>
            </a:r>
            <a:endParaRPr lang="en-US" sz="1550" dirty="0"/>
          </a:p>
        </p:txBody>
      </p:sp>
      <p:sp>
        <p:nvSpPr>
          <p:cNvPr id="9" name="Text 4"/>
          <p:cNvSpPr/>
          <p:nvPr/>
        </p:nvSpPr>
        <p:spPr>
          <a:xfrm>
            <a:off x="3920966" y="2063472"/>
            <a:ext cx="1893332" cy="2162175"/>
          </a:xfrm>
          <a:prstGeom prst="rect">
            <a:avLst/>
          </a:prstGeom>
          <a:noFill/>
          <a:ln/>
        </p:spPr>
        <p:txBody>
          <a:bodyPr wrap="square" lIns="0" tIns="0" rIns="0" bIns="0" rtlCol="0" anchor="t"/>
          <a:lstStyle/>
          <a:p>
            <a:pPr algn="l" indent="0" marL="0">
              <a:lnSpc>
                <a:spcPts val="2100"/>
              </a:lnSpc>
              <a:buNone/>
            </a:pPr>
            <a:r>
              <a:rPr lang="en-US" sz="1300" dirty="0">
                <a:solidFill>
                  <a:srgbClr val="F9EEE7"/>
                </a:solidFill>
                <a:latin typeface="Quattrocento" pitchFamily="34" charset="0"/>
                <a:ea typeface="Quattrocento" pitchFamily="34" charset="-122"/>
                <a:cs typeface="Quattrocento" pitchFamily="34" charset="-120"/>
              </a:rPr>
              <a:t>Computes similarity between two or more faces based on extracted facial features. Uses cosine similarity or Euclidean distance for measuring facial resemblance.</a:t>
            </a:r>
            <a:endParaRPr lang="en-US" sz="1300" dirty="0"/>
          </a:p>
        </p:txBody>
      </p:sp>
      <p:pic>
        <p:nvPicPr>
          <p:cNvPr id="10" name="Image 3" descr="preencoded.png">    </p:cNvPr>
          <p:cNvPicPr>
            <a:picLocks noChangeAspect="1"/>
          </p:cNvPicPr>
          <p:nvPr/>
        </p:nvPicPr>
        <p:blipFill>
          <a:blip r:embed="rId4"/>
          <a:stretch>
            <a:fillRect/>
          </a:stretch>
        </p:blipFill>
        <p:spPr>
          <a:xfrm>
            <a:off x="6067782" y="1494711"/>
            <a:ext cx="422434" cy="422434"/>
          </a:xfrm>
          <a:prstGeom prst="rect">
            <a:avLst/>
          </a:prstGeom>
        </p:spPr>
      </p:pic>
      <p:sp>
        <p:nvSpPr>
          <p:cNvPr id="11" name="Text 5"/>
          <p:cNvSpPr/>
          <p:nvPr/>
        </p:nvSpPr>
        <p:spPr>
          <a:xfrm>
            <a:off x="6659166" y="1465183"/>
            <a:ext cx="1893332" cy="496967"/>
          </a:xfrm>
          <a:prstGeom prst="rect">
            <a:avLst/>
          </a:prstGeom>
          <a:noFill/>
          <a:ln/>
        </p:spPr>
        <p:txBody>
          <a:bodyPr wrap="square" lIns="0" tIns="0" rIns="0" bIns="0" rtlCol="0" anchor="t"/>
          <a:lstStyle/>
          <a:p>
            <a:pPr algn="l" indent="0" marL="0">
              <a:lnSpc>
                <a:spcPts val="1950"/>
              </a:lnSpc>
              <a:buNone/>
            </a:pPr>
            <a:r>
              <a:rPr lang="en-US" sz="1550" dirty="0">
                <a:solidFill>
                  <a:srgbClr val="F9EEE7"/>
                </a:solidFill>
                <a:latin typeface="Quattrocento" pitchFamily="34" charset="0"/>
                <a:ea typeface="Quattrocento" pitchFamily="34" charset="-122"/>
                <a:cs typeface="Quattrocento" pitchFamily="34" charset="-120"/>
              </a:rPr>
              <a:t>Machine Learning Integration</a:t>
            </a:r>
            <a:endParaRPr lang="en-US" sz="1550" dirty="0"/>
          </a:p>
        </p:txBody>
      </p:sp>
      <p:sp>
        <p:nvSpPr>
          <p:cNvPr id="12" name="Text 6"/>
          <p:cNvSpPr/>
          <p:nvPr/>
        </p:nvSpPr>
        <p:spPr>
          <a:xfrm>
            <a:off x="6659166" y="2063472"/>
            <a:ext cx="1893332" cy="2432447"/>
          </a:xfrm>
          <a:prstGeom prst="rect">
            <a:avLst/>
          </a:prstGeom>
          <a:noFill/>
          <a:ln/>
        </p:spPr>
        <p:txBody>
          <a:bodyPr wrap="square" lIns="0" tIns="0" rIns="0" bIns="0" rtlCol="0" anchor="t"/>
          <a:lstStyle/>
          <a:p>
            <a:pPr algn="l" indent="0" marL="0">
              <a:lnSpc>
                <a:spcPts val="2100"/>
              </a:lnSpc>
              <a:buNone/>
            </a:pPr>
            <a:r>
              <a:rPr lang="en-US" sz="1300" dirty="0">
                <a:solidFill>
                  <a:srgbClr val="F9EEE7"/>
                </a:solidFill>
                <a:latin typeface="Quattrocento" pitchFamily="34" charset="0"/>
                <a:ea typeface="Quattrocento" pitchFamily="34" charset="-122"/>
                <a:cs typeface="Quattrocento" pitchFamily="34" charset="-120"/>
              </a:rPr>
              <a:t>Employs deep learning models like Convolutional Neural Networks (CNNs) and Siamese Networks for feature extraction. Utilizes pre-trained models like FaceNet, Dlib, and OpenCV.</a:t>
            </a:r>
            <a:endParaRPr lang="en-US" sz="1300" dirty="0"/>
          </a:p>
        </p:txBody>
      </p:sp>
      <p:pic>
        <p:nvPicPr>
          <p:cNvPr id="13" name="Image 4" descr="preencoded.png">    </p:cNvPr>
          <p:cNvPicPr>
            <a:picLocks noChangeAspect="1"/>
          </p:cNvPicPr>
          <p:nvPr/>
        </p:nvPicPr>
        <p:blipFill>
          <a:blip r:embed="rId5"/>
          <a:stretch>
            <a:fillRect/>
          </a:stretch>
        </p:blipFill>
        <p:spPr>
          <a:xfrm>
            <a:off x="591503" y="5032415"/>
            <a:ext cx="422434" cy="422434"/>
          </a:xfrm>
          <a:prstGeom prst="rect">
            <a:avLst/>
          </a:prstGeom>
        </p:spPr>
      </p:pic>
      <p:sp>
        <p:nvSpPr>
          <p:cNvPr id="14" name="Text 7"/>
          <p:cNvSpPr/>
          <p:nvPr/>
        </p:nvSpPr>
        <p:spPr>
          <a:xfrm>
            <a:off x="1182886" y="5002887"/>
            <a:ext cx="1893213" cy="248483"/>
          </a:xfrm>
          <a:prstGeom prst="rect">
            <a:avLst/>
          </a:prstGeom>
          <a:noFill/>
          <a:ln/>
        </p:spPr>
        <p:txBody>
          <a:bodyPr wrap="none" lIns="0" tIns="0" rIns="0" bIns="0" rtlCol="0" anchor="t"/>
          <a:lstStyle/>
          <a:p>
            <a:pPr algn="l" indent="0" marL="0">
              <a:lnSpc>
                <a:spcPts val="1950"/>
              </a:lnSpc>
              <a:buNone/>
            </a:pPr>
            <a:r>
              <a:rPr lang="en-US" sz="1550" dirty="0">
                <a:solidFill>
                  <a:srgbClr val="F9EEE7"/>
                </a:solidFill>
                <a:latin typeface="Quattrocento" pitchFamily="34" charset="0"/>
                <a:ea typeface="Quattrocento" pitchFamily="34" charset="-122"/>
                <a:cs typeface="Quattrocento" pitchFamily="34" charset="-120"/>
              </a:rPr>
              <a:t>Real-time Processing</a:t>
            </a:r>
            <a:endParaRPr lang="en-US" sz="1550" dirty="0"/>
          </a:p>
        </p:txBody>
      </p:sp>
      <p:sp>
        <p:nvSpPr>
          <p:cNvPr id="15" name="Text 8"/>
          <p:cNvSpPr/>
          <p:nvPr/>
        </p:nvSpPr>
        <p:spPr>
          <a:xfrm>
            <a:off x="1182886" y="5352693"/>
            <a:ext cx="1893213" cy="2162175"/>
          </a:xfrm>
          <a:prstGeom prst="rect">
            <a:avLst/>
          </a:prstGeom>
          <a:noFill/>
          <a:ln/>
        </p:spPr>
        <p:txBody>
          <a:bodyPr wrap="square" lIns="0" tIns="0" rIns="0" bIns="0" rtlCol="0" anchor="t"/>
          <a:lstStyle/>
          <a:p>
            <a:pPr algn="l" indent="0" marL="0">
              <a:lnSpc>
                <a:spcPts val="2100"/>
              </a:lnSpc>
              <a:buNone/>
            </a:pPr>
            <a:r>
              <a:rPr lang="en-US" sz="1300" dirty="0">
                <a:solidFill>
                  <a:srgbClr val="F9EEE7"/>
                </a:solidFill>
                <a:latin typeface="Quattrocento" pitchFamily="34" charset="0"/>
                <a:ea typeface="Quattrocento" pitchFamily="34" charset="-122"/>
                <a:cs typeface="Quattrocento" pitchFamily="34" charset="-120"/>
              </a:rPr>
              <a:t>Capable of processing and recommending faces in real-time using optimized face detection and recognition techniques. Supports live camera feeds and video streams.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66763" y="602813"/>
            <a:ext cx="6827877" cy="644366"/>
          </a:xfrm>
          <a:prstGeom prst="rect">
            <a:avLst/>
          </a:prstGeom>
          <a:noFill/>
          <a:ln/>
        </p:spPr>
        <p:txBody>
          <a:bodyPr wrap="none" lIns="0" tIns="0" rIns="0" bIns="0" rtlCol="0" anchor="t"/>
          <a:lstStyle/>
          <a:p>
            <a:pPr algn="l" indent="0" marL="0">
              <a:lnSpc>
                <a:spcPts val="5050"/>
              </a:lnSpc>
              <a:buNone/>
            </a:pPr>
            <a:r>
              <a:rPr lang="en-US" sz="4050" dirty="0">
                <a:solidFill>
                  <a:srgbClr val="FFD9BE"/>
                </a:solidFill>
                <a:latin typeface="Quattrocento" pitchFamily="34" charset="0"/>
                <a:ea typeface="Quattrocento" pitchFamily="34" charset="-122"/>
                <a:cs typeface="Quattrocento" pitchFamily="34" charset="-120"/>
              </a:rPr>
              <a:t>Feasibility and System Design</a:t>
            </a:r>
            <a:endParaRPr lang="en-US" sz="4050" dirty="0"/>
          </a:p>
        </p:txBody>
      </p:sp>
      <p:sp>
        <p:nvSpPr>
          <p:cNvPr id="3" name="Text 1"/>
          <p:cNvSpPr/>
          <p:nvPr/>
        </p:nvSpPr>
        <p:spPr>
          <a:xfrm>
            <a:off x="766763" y="1794867"/>
            <a:ext cx="2577465" cy="322183"/>
          </a:xfrm>
          <a:prstGeom prst="rect">
            <a:avLst/>
          </a:prstGeom>
          <a:noFill/>
          <a:ln/>
        </p:spPr>
        <p:txBody>
          <a:bodyPr wrap="none" lIns="0" tIns="0" rIns="0" bIns="0" rtlCol="0" anchor="t"/>
          <a:lstStyle/>
          <a:p>
            <a:pPr algn="l" indent="0" marL="0">
              <a:lnSpc>
                <a:spcPts val="2500"/>
              </a:lnSpc>
              <a:buNone/>
            </a:pPr>
            <a:r>
              <a:rPr lang="en-US" sz="2000" dirty="0">
                <a:solidFill>
                  <a:srgbClr val="FFD9BE"/>
                </a:solidFill>
                <a:latin typeface="Quattrocento" pitchFamily="34" charset="0"/>
                <a:ea typeface="Quattrocento" pitchFamily="34" charset="-122"/>
                <a:cs typeface="Quattrocento" pitchFamily="34" charset="-120"/>
              </a:rPr>
              <a:t>Technical Feasibility</a:t>
            </a:r>
            <a:endParaRPr lang="en-US" sz="2000" dirty="0"/>
          </a:p>
        </p:txBody>
      </p:sp>
      <p:sp>
        <p:nvSpPr>
          <p:cNvPr id="4" name="Text 2"/>
          <p:cNvSpPr/>
          <p:nvPr/>
        </p:nvSpPr>
        <p:spPr>
          <a:xfrm>
            <a:off x="766763" y="2336125"/>
            <a:ext cx="4008834" cy="2103120"/>
          </a:xfrm>
          <a:prstGeom prst="rect">
            <a:avLst/>
          </a:prstGeom>
          <a:noFill/>
          <a:ln/>
        </p:spPr>
        <p:txBody>
          <a:bodyPr wrap="square" lIns="0" tIns="0" rIns="0" bIns="0" rtlCol="0" anchor="t"/>
          <a:lstStyle/>
          <a:p>
            <a:pPr algn="l" indent="0" marL="0">
              <a:lnSpc>
                <a:spcPts val="2750"/>
              </a:lnSpc>
              <a:buNone/>
            </a:pPr>
            <a:r>
              <a:rPr lang="en-US" sz="1700" dirty="0">
                <a:solidFill>
                  <a:srgbClr val="F9EEE7"/>
                </a:solidFill>
                <a:latin typeface="Quattrocento" pitchFamily="34" charset="0"/>
                <a:ea typeface="Quattrocento" pitchFamily="34" charset="-122"/>
                <a:cs typeface="Quattrocento" pitchFamily="34" charset="-120"/>
              </a:rPr>
              <a:t>Utilizes mature and reliable technologies like OpenCV and Python that are widely supported and documented. Compatible with various hardware and software platforms, making it highly adaptable.</a:t>
            </a:r>
            <a:endParaRPr lang="en-US" sz="1700" dirty="0"/>
          </a:p>
        </p:txBody>
      </p:sp>
      <p:sp>
        <p:nvSpPr>
          <p:cNvPr id="5" name="Text 3"/>
          <p:cNvSpPr/>
          <p:nvPr/>
        </p:nvSpPr>
        <p:spPr>
          <a:xfrm>
            <a:off x="766763" y="4636413"/>
            <a:ext cx="4008834" cy="1752600"/>
          </a:xfrm>
          <a:prstGeom prst="rect">
            <a:avLst/>
          </a:prstGeom>
          <a:noFill/>
          <a:ln/>
        </p:spPr>
        <p:txBody>
          <a:bodyPr wrap="square" lIns="0" tIns="0" rIns="0" bIns="0" rtlCol="0" anchor="t"/>
          <a:lstStyle/>
          <a:p>
            <a:pPr algn="l" indent="0" marL="0">
              <a:lnSpc>
                <a:spcPts val="2750"/>
              </a:lnSpc>
              <a:buNone/>
            </a:pPr>
            <a:r>
              <a:rPr lang="en-US" sz="1700" dirty="0">
                <a:solidFill>
                  <a:srgbClr val="F9EEE7"/>
                </a:solidFill>
                <a:latin typeface="Quattrocento" pitchFamily="34" charset="0"/>
                <a:ea typeface="Quattrocento" pitchFamily="34" charset="-122"/>
                <a:cs typeface="Quattrocento" pitchFamily="34" charset="-120"/>
              </a:rPr>
              <a:t>Scalable architecture allows deployment across multiple branches or departments. Integration with machine learning libraries enables continual improvement in accuracy.</a:t>
            </a:r>
            <a:endParaRPr lang="en-US" sz="1700" dirty="0"/>
          </a:p>
        </p:txBody>
      </p:sp>
      <p:sp>
        <p:nvSpPr>
          <p:cNvPr id="6" name="Text 4"/>
          <p:cNvSpPr/>
          <p:nvPr/>
        </p:nvSpPr>
        <p:spPr>
          <a:xfrm>
            <a:off x="5317569" y="1794867"/>
            <a:ext cx="2577465" cy="322183"/>
          </a:xfrm>
          <a:prstGeom prst="rect">
            <a:avLst/>
          </a:prstGeom>
          <a:noFill/>
          <a:ln/>
        </p:spPr>
        <p:txBody>
          <a:bodyPr wrap="none" lIns="0" tIns="0" rIns="0" bIns="0" rtlCol="0" anchor="t"/>
          <a:lstStyle/>
          <a:p>
            <a:pPr algn="l" indent="0" marL="0">
              <a:lnSpc>
                <a:spcPts val="2500"/>
              </a:lnSpc>
              <a:buNone/>
            </a:pPr>
            <a:r>
              <a:rPr lang="en-US" sz="2000" dirty="0">
                <a:solidFill>
                  <a:srgbClr val="FFD9BE"/>
                </a:solidFill>
                <a:latin typeface="Quattrocento" pitchFamily="34" charset="0"/>
                <a:ea typeface="Quattrocento" pitchFamily="34" charset="-122"/>
                <a:cs typeface="Quattrocento" pitchFamily="34" charset="-120"/>
              </a:rPr>
              <a:t>Economic Feasibility</a:t>
            </a:r>
            <a:endParaRPr lang="en-US" sz="2000" dirty="0"/>
          </a:p>
        </p:txBody>
      </p:sp>
      <p:sp>
        <p:nvSpPr>
          <p:cNvPr id="7" name="Text 5"/>
          <p:cNvSpPr/>
          <p:nvPr/>
        </p:nvSpPr>
        <p:spPr>
          <a:xfrm>
            <a:off x="5317569" y="2336125"/>
            <a:ext cx="4008834" cy="1752600"/>
          </a:xfrm>
          <a:prstGeom prst="rect">
            <a:avLst/>
          </a:prstGeom>
          <a:noFill/>
          <a:ln/>
        </p:spPr>
        <p:txBody>
          <a:bodyPr wrap="square" lIns="0" tIns="0" rIns="0" bIns="0" rtlCol="0" anchor="t"/>
          <a:lstStyle/>
          <a:p>
            <a:pPr algn="l" indent="0" marL="0">
              <a:lnSpc>
                <a:spcPts val="2750"/>
              </a:lnSpc>
              <a:buNone/>
            </a:pPr>
            <a:r>
              <a:rPr lang="en-US" sz="1700" dirty="0">
                <a:solidFill>
                  <a:srgbClr val="F9EEE7"/>
                </a:solidFill>
                <a:latin typeface="Quattrocento" pitchFamily="34" charset="0"/>
                <a:ea typeface="Quattrocento" pitchFamily="34" charset="-122"/>
                <a:cs typeface="Quattrocento" pitchFamily="34" charset="-120"/>
              </a:rPr>
              <a:t>Significantly reduces the cost compared to traditional biometric devices which require expensive hardware. Development cost is minimal due to the use of open-source tools and libraries.</a:t>
            </a:r>
            <a:endParaRPr lang="en-US" sz="1700" dirty="0"/>
          </a:p>
        </p:txBody>
      </p:sp>
      <p:sp>
        <p:nvSpPr>
          <p:cNvPr id="8" name="Text 6"/>
          <p:cNvSpPr/>
          <p:nvPr/>
        </p:nvSpPr>
        <p:spPr>
          <a:xfrm>
            <a:off x="5317569" y="4285893"/>
            <a:ext cx="4008834" cy="1752600"/>
          </a:xfrm>
          <a:prstGeom prst="rect">
            <a:avLst/>
          </a:prstGeom>
          <a:noFill/>
          <a:ln/>
        </p:spPr>
        <p:txBody>
          <a:bodyPr wrap="square" lIns="0" tIns="0" rIns="0" bIns="0" rtlCol="0" anchor="t"/>
          <a:lstStyle/>
          <a:p>
            <a:pPr algn="l" indent="0" marL="0">
              <a:lnSpc>
                <a:spcPts val="2750"/>
              </a:lnSpc>
              <a:buNone/>
            </a:pPr>
            <a:r>
              <a:rPr lang="en-US" sz="1700" dirty="0">
                <a:solidFill>
                  <a:srgbClr val="F9EEE7"/>
                </a:solidFill>
                <a:latin typeface="Quattrocento" pitchFamily="34" charset="0"/>
                <a:ea typeface="Quattrocento" pitchFamily="34" charset="-122"/>
                <a:cs typeface="Quattrocento" pitchFamily="34" charset="-120"/>
              </a:rPr>
              <a:t>Lower maintenance cost since the system requires only standard computing equipment. Automation leads to long-term savings by reducing administrative overhead.</a:t>
            </a:r>
            <a:endParaRPr lang="en-US" sz="1700" dirty="0"/>
          </a:p>
        </p:txBody>
      </p:sp>
      <p:sp>
        <p:nvSpPr>
          <p:cNvPr id="9" name="Text 7"/>
          <p:cNvSpPr/>
          <p:nvPr/>
        </p:nvSpPr>
        <p:spPr>
          <a:xfrm>
            <a:off x="9868376" y="1794867"/>
            <a:ext cx="2597944" cy="322183"/>
          </a:xfrm>
          <a:prstGeom prst="rect">
            <a:avLst/>
          </a:prstGeom>
          <a:noFill/>
          <a:ln/>
        </p:spPr>
        <p:txBody>
          <a:bodyPr wrap="none" lIns="0" tIns="0" rIns="0" bIns="0" rtlCol="0" anchor="t"/>
          <a:lstStyle/>
          <a:p>
            <a:pPr algn="l" indent="0" marL="0">
              <a:lnSpc>
                <a:spcPts val="2500"/>
              </a:lnSpc>
              <a:buNone/>
            </a:pPr>
            <a:r>
              <a:rPr lang="en-US" sz="2000" dirty="0">
                <a:solidFill>
                  <a:srgbClr val="FFD9BE"/>
                </a:solidFill>
                <a:latin typeface="Quattrocento" pitchFamily="34" charset="0"/>
                <a:ea typeface="Quattrocento" pitchFamily="34" charset="-122"/>
                <a:cs typeface="Quattrocento" pitchFamily="34" charset="-120"/>
              </a:rPr>
              <a:t>Operational Feasibility</a:t>
            </a:r>
            <a:endParaRPr lang="en-US" sz="2000" dirty="0"/>
          </a:p>
        </p:txBody>
      </p:sp>
      <p:sp>
        <p:nvSpPr>
          <p:cNvPr id="10" name="Text 8"/>
          <p:cNvSpPr/>
          <p:nvPr/>
        </p:nvSpPr>
        <p:spPr>
          <a:xfrm>
            <a:off x="9868376" y="2336125"/>
            <a:ext cx="4008834" cy="1051560"/>
          </a:xfrm>
          <a:prstGeom prst="rect">
            <a:avLst/>
          </a:prstGeom>
          <a:noFill/>
          <a:ln/>
        </p:spPr>
        <p:txBody>
          <a:bodyPr wrap="square" lIns="0" tIns="0" rIns="0" bIns="0" rtlCol="0" anchor="t"/>
          <a:lstStyle/>
          <a:p>
            <a:pPr algn="l" marL="342900" indent="-342900">
              <a:lnSpc>
                <a:spcPts val="2750"/>
              </a:lnSpc>
              <a:buSzPct val="100000"/>
              <a:buChar char="•"/>
            </a:pPr>
            <a:r>
              <a:rPr lang="en-US" sz="1700" dirty="0">
                <a:solidFill>
                  <a:srgbClr val="F9EEE7"/>
                </a:solidFill>
                <a:latin typeface="Quattrocento" pitchFamily="34" charset="0"/>
                <a:ea typeface="Quattrocento" pitchFamily="34" charset="-122"/>
                <a:cs typeface="Quattrocento" pitchFamily="34" charset="-120"/>
              </a:rPr>
              <a:t>Easy-to-use system with a minimal learning curve for staff and administrators.</a:t>
            </a:r>
            <a:endParaRPr lang="en-US" sz="1700" dirty="0"/>
          </a:p>
        </p:txBody>
      </p:sp>
      <p:sp>
        <p:nvSpPr>
          <p:cNvPr id="11" name="Text 9"/>
          <p:cNvSpPr/>
          <p:nvPr/>
        </p:nvSpPr>
        <p:spPr>
          <a:xfrm>
            <a:off x="9868376" y="3464362"/>
            <a:ext cx="4008834" cy="1051560"/>
          </a:xfrm>
          <a:prstGeom prst="rect">
            <a:avLst/>
          </a:prstGeom>
          <a:noFill/>
          <a:ln/>
        </p:spPr>
        <p:txBody>
          <a:bodyPr wrap="square" lIns="0" tIns="0" rIns="0" bIns="0" rtlCol="0" anchor="t"/>
          <a:lstStyle/>
          <a:p>
            <a:pPr algn="l" marL="342900" indent="-342900">
              <a:lnSpc>
                <a:spcPts val="2750"/>
              </a:lnSpc>
              <a:buSzPct val="100000"/>
              <a:buChar char="•"/>
            </a:pPr>
            <a:r>
              <a:rPr lang="en-US" sz="1700" dirty="0">
                <a:solidFill>
                  <a:srgbClr val="F9EEE7"/>
                </a:solidFill>
                <a:latin typeface="Quattrocento" pitchFamily="34" charset="0"/>
                <a:ea typeface="Quattrocento" pitchFamily="34" charset="-122"/>
                <a:cs typeface="Quattrocento" pitchFamily="34" charset="-120"/>
              </a:rPr>
              <a:t>Can be deployed in educational institutions, businesses, and remote settings.</a:t>
            </a:r>
            <a:endParaRPr lang="en-US" sz="1700" dirty="0"/>
          </a:p>
        </p:txBody>
      </p:sp>
      <p:sp>
        <p:nvSpPr>
          <p:cNvPr id="12" name="Text 10"/>
          <p:cNvSpPr/>
          <p:nvPr/>
        </p:nvSpPr>
        <p:spPr>
          <a:xfrm>
            <a:off x="9868376" y="4592598"/>
            <a:ext cx="4008834" cy="1051560"/>
          </a:xfrm>
          <a:prstGeom prst="rect">
            <a:avLst/>
          </a:prstGeom>
          <a:noFill/>
          <a:ln/>
        </p:spPr>
        <p:txBody>
          <a:bodyPr wrap="square" lIns="0" tIns="0" rIns="0" bIns="0" rtlCol="0" anchor="t"/>
          <a:lstStyle/>
          <a:p>
            <a:pPr algn="l" marL="342900" indent="-342900">
              <a:lnSpc>
                <a:spcPts val="2750"/>
              </a:lnSpc>
              <a:buSzPct val="100000"/>
              <a:buChar char="•"/>
            </a:pPr>
            <a:r>
              <a:rPr lang="en-US" sz="1700" dirty="0">
                <a:solidFill>
                  <a:srgbClr val="F9EEE7"/>
                </a:solidFill>
                <a:latin typeface="Quattrocento" pitchFamily="34" charset="0"/>
                <a:ea typeface="Quattrocento" pitchFamily="34" charset="-122"/>
                <a:cs typeface="Quattrocento" pitchFamily="34" charset="-120"/>
              </a:rPr>
              <a:t>Supports automation of routine tasks like report generation and data backup.</a:t>
            </a:r>
            <a:endParaRPr lang="en-US" sz="1700" dirty="0"/>
          </a:p>
        </p:txBody>
      </p:sp>
      <p:sp>
        <p:nvSpPr>
          <p:cNvPr id="13" name="Text 11"/>
          <p:cNvSpPr/>
          <p:nvPr/>
        </p:nvSpPr>
        <p:spPr>
          <a:xfrm>
            <a:off x="9868376" y="5720834"/>
            <a:ext cx="4008834" cy="1051560"/>
          </a:xfrm>
          <a:prstGeom prst="rect">
            <a:avLst/>
          </a:prstGeom>
          <a:noFill/>
          <a:ln/>
        </p:spPr>
        <p:txBody>
          <a:bodyPr wrap="square" lIns="0" tIns="0" rIns="0" bIns="0" rtlCol="0" anchor="t"/>
          <a:lstStyle/>
          <a:p>
            <a:pPr algn="l" marL="342900" indent="-342900">
              <a:lnSpc>
                <a:spcPts val="2750"/>
              </a:lnSpc>
              <a:buSzPct val="100000"/>
              <a:buChar char="•"/>
            </a:pPr>
            <a:r>
              <a:rPr lang="en-US" sz="1700" dirty="0">
                <a:solidFill>
                  <a:srgbClr val="F9EEE7"/>
                </a:solidFill>
                <a:latin typeface="Quattrocento" pitchFamily="34" charset="0"/>
                <a:ea typeface="Quattrocento" pitchFamily="34" charset="-122"/>
                <a:cs typeface="Quattrocento" pitchFamily="34" charset="-120"/>
              </a:rPr>
              <a:t>Enhances accountability and transparency in attendance monitoring.</a:t>
            </a:r>
            <a:endParaRPr lang="en-US" sz="1700" dirty="0"/>
          </a:p>
        </p:txBody>
      </p:sp>
      <p:sp>
        <p:nvSpPr>
          <p:cNvPr id="14" name="Text 12"/>
          <p:cNvSpPr/>
          <p:nvPr/>
        </p:nvSpPr>
        <p:spPr>
          <a:xfrm>
            <a:off x="9868376" y="6849070"/>
            <a:ext cx="4008834" cy="701040"/>
          </a:xfrm>
          <a:prstGeom prst="rect">
            <a:avLst/>
          </a:prstGeom>
          <a:noFill/>
          <a:ln/>
        </p:spPr>
        <p:txBody>
          <a:bodyPr wrap="square" lIns="0" tIns="0" rIns="0" bIns="0" rtlCol="0" anchor="t"/>
          <a:lstStyle/>
          <a:p>
            <a:pPr algn="l" marL="342900" indent="-342900">
              <a:lnSpc>
                <a:spcPts val="2750"/>
              </a:lnSpc>
              <a:buSzPct val="100000"/>
              <a:buChar char="•"/>
            </a:pPr>
            <a:r>
              <a:rPr lang="en-US" sz="1700" dirty="0">
                <a:solidFill>
                  <a:srgbClr val="F9EEE7"/>
                </a:solidFill>
                <a:latin typeface="Quattrocento" pitchFamily="34" charset="0"/>
                <a:ea typeface="Quattrocento" pitchFamily="34" charset="-122"/>
                <a:cs typeface="Quattrocento" pitchFamily="34" charset="-120"/>
              </a:rPr>
              <a:t>Reduces chances of proxy attendance and manual errors.</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72120" y="606743"/>
            <a:ext cx="5191244" cy="648891"/>
          </a:xfrm>
          <a:prstGeom prst="rect">
            <a:avLst/>
          </a:prstGeom>
          <a:noFill/>
          <a:ln/>
        </p:spPr>
        <p:txBody>
          <a:bodyPr wrap="none" lIns="0" tIns="0" rIns="0" bIns="0" rtlCol="0" anchor="t"/>
          <a:lstStyle/>
          <a:p>
            <a:pPr algn="l" indent="0" marL="0">
              <a:lnSpc>
                <a:spcPts val="5100"/>
              </a:lnSpc>
              <a:buNone/>
            </a:pPr>
            <a:r>
              <a:rPr lang="en-US" sz="4050" dirty="0">
                <a:solidFill>
                  <a:srgbClr val="FFD9BE"/>
                </a:solidFill>
                <a:latin typeface="Quattrocento" pitchFamily="34" charset="0"/>
                <a:ea typeface="Quattrocento" pitchFamily="34" charset="-122"/>
                <a:cs typeface="Quattrocento" pitchFamily="34" charset="-120"/>
              </a:rPr>
              <a:t>System Architecture</a:t>
            </a:r>
            <a:endParaRPr lang="en-US" sz="4050" dirty="0"/>
          </a:p>
        </p:txBody>
      </p:sp>
      <p:pic>
        <p:nvPicPr>
          <p:cNvPr id="3" name="Image 0" descr="preencoded.png">    </p:cNvPr>
          <p:cNvPicPr>
            <a:picLocks noChangeAspect="1"/>
          </p:cNvPicPr>
          <p:nvPr/>
        </p:nvPicPr>
        <p:blipFill>
          <a:blip r:embed="rId1"/>
          <a:stretch>
            <a:fillRect/>
          </a:stretch>
        </p:blipFill>
        <p:spPr>
          <a:xfrm>
            <a:off x="3498413" y="1839039"/>
            <a:ext cx="2426851" cy="2426851"/>
          </a:xfrm>
          <a:prstGeom prst="rect">
            <a:avLst/>
          </a:prstGeom>
        </p:spPr>
      </p:pic>
      <p:pic>
        <p:nvPicPr>
          <p:cNvPr id="4" name="Image 1" descr="preencoded.png">    </p:cNvPr>
          <p:cNvPicPr>
            <a:picLocks noChangeAspect="1"/>
          </p:cNvPicPr>
          <p:nvPr/>
        </p:nvPicPr>
        <p:blipFill>
          <a:blip r:embed="rId2"/>
          <a:stretch>
            <a:fillRect/>
          </a:stretch>
        </p:blipFill>
        <p:spPr>
          <a:xfrm>
            <a:off x="6101715" y="1839039"/>
            <a:ext cx="2426851" cy="2426851"/>
          </a:xfrm>
          <a:prstGeom prst="rect">
            <a:avLst/>
          </a:prstGeom>
        </p:spPr>
      </p:pic>
      <p:pic>
        <p:nvPicPr>
          <p:cNvPr id="5" name="Image 2" descr="preencoded.png">    </p:cNvPr>
          <p:cNvPicPr>
            <a:picLocks noChangeAspect="1"/>
          </p:cNvPicPr>
          <p:nvPr/>
        </p:nvPicPr>
        <p:blipFill>
          <a:blip r:embed="rId3"/>
          <a:stretch>
            <a:fillRect/>
          </a:stretch>
        </p:blipFill>
        <p:spPr>
          <a:xfrm>
            <a:off x="8705017" y="1839039"/>
            <a:ext cx="2426851" cy="2426851"/>
          </a:xfrm>
          <a:prstGeom prst="rect">
            <a:avLst/>
          </a:prstGeom>
        </p:spPr>
      </p:pic>
      <p:sp>
        <p:nvSpPr>
          <p:cNvPr id="6" name="Text 1"/>
          <p:cNvSpPr/>
          <p:nvPr/>
        </p:nvSpPr>
        <p:spPr>
          <a:xfrm>
            <a:off x="772120" y="4656177"/>
            <a:ext cx="13086159" cy="705803"/>
          </a:xfrm>
          <a:prstGeom prst="rect">
            <a:avLst/>
          </a:prstGeom>
          <a:noFill/>
          <a:ln/>
        </p:spPr>
        <p:txBody>
          <a:bodyPr wrap="square" lIns="0" tIns="0" rIns="0" bIns="0" rtlCol="0" anchor="t"/>
          <a:lstStyle/>
          <a:p>
            <a:pPr algn="l" indent="0" marL="0">
              <a:lnSpc>
                <a:spcPts val="2750"/>
              </a:lnSpc>
              <a:buNone/>
            </a:pPr>
            <a:r>
              <a:rPr lang="en-US" sz="1700" dirty="0">
                <a:solidFill>
                  <a:srgbClr val="F9EEE7"/>
                </a:solidFill>
                <a:latin typeface="Quattrocento" pitchFamily="34" charset="0"/>
                <a:ea typeface="Quattrocento" pitchFamily="34" charset="-122"/>
                <a:cs typeface="Quattrocento" pitchFamily="34" charset="-120"/>
              </a:rPr>
              <a:t>The system architecture illustrates the comprehensive workflow of the Face Recognition Attendance System. It showcases the integration of various components including image capture, preprocessing, feature extraction, and database management.</a:t>
            </a:r>
            <a:endParaRPr lang="en-US" sz="1700" dirty="0"/>
          </a:p>
        </p:txBody>
      </p:sp>
      <p:sp>
        <p:nvSpPr>
          <p:cNvPr id="7" name="Text 2"/>
          <p:cNvSpPr/>
          <p:nvPr/>
        </p:nvSpPr>
        <p:spPr>
          <a:xfrm>
            <a:off x="772120" y="5610106"/>
            <a:ext cx="13086159" cy="1058704"/>
          </a:xfrm>
          <a:prstGeom prst="rect">
            <a:avLst/>
          </a:prstGeom>
          <a:noFill/>
          <a:ln/>
        </p:spPr>
        <p:txBody>
          <a:bodyPr wrap="square" lIns="0" tIns="0" rIns="0" bIns="0" rtlCol="0" anchor="t"/>
          <a:lstStyle/>
          <a:p>
            <a:pPr algn="l" indent="0" marL="0">
              <a:lnSpc>
                <a:spcPts val="2750"/>
              </a:lnSpc>
              <a:buNone/>
            </a:pPr>
            <a:r>
              <a:rPr lang="en-US" sz="1700" dirty="0">
                <a:solidFill>
                  <a:srgbClr val="F9EEE7"/>
                </a:solidFill>
                <a:latin typeface="Quattrocento" pitchFamily="34" charset="0"/>
                <a:ea typeface="Quattrocento" pitchFamily="34" charset="-122"/>
                <a:cs typeface="Quattrocento" pitchFamily="34" charset="-120"/>
              </a:rPr>
              <a:t>The diagrams demonstrate how facial data flows through the system, from initial capture to final attendance recording. The architecture is designed to be scalable and adaptable, allowing for deployment across various institutional settings while maintaining robust performance and security.</a:t>
            </a:r>
            <a:endParaRPr lang="en-US" sz="1700" dirty="0"/>
          </a:p>
        </p:txBody>
      </p:sp>
      <p:sp>
        <p:nvSpPr>
          <p:cNvPr id="8" name="Text 3"/>
          <p:cNvSpPr/>
          <p:nvPr/>
        </p:nvSpPr>
        <p:spPr>
          <a:xfrm>
            <a:off x="772120" y="6916936"/>
            <a:ext cx="13086159" cy="705803"/>
          </a:xfrm>
          <a:prstGeom prst="rect">
            <a:avLst/>
          </a:prstGeom>
          <a:noFill/>
          <a:ln/>
        </p:spPr>
        <p:txBody>
          <a:bodyPr wrap="square" lIns="0" tIns="0" rIns="0" bIns="0" rtlCol="0" anchor="t"/>
          <a:lstStyle/>
          <a:p>
            <a:pPr algn="l" indent="0" marL="0">
              <a:lnSpc>
                <a:spcPts val="2750"/>
              </a:lnSpc>
              <a:buNone/>
            </a:pPr>
            <a:r>
              <a:rPr lang="en-US" sz="1700" dirty="0">
                <a:solidFill>
                  <a:srgbClr val="F9EEE7"/>
                </a:solidFill>
                <a:latin typeface="Quattrocento" pitchFamily="34" charset="0"/>
                <a:ea typeface="Quattrocento" pitchFamily="34" charset="-122"/>
                <a:cs typeface="Quattrocento" pitchFamily="34" charset="-120"/>
              </a:rPr>
              <a:t>Each component has been carefully designed to work in harmony with others, ensuring efficient processing and accurate recognition even in challenging environments.</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75548" y="584835"/>
            <a:ext cx="6092309" cy="483632"/>
          </a:xfrm>
          <a:prstGeom prst="rect">
            <a:avLst/>
          </a:prstGeom>
          <a:noFill/>
          <a:ln/>
        </p:spPr>
        <p:txBody>
          <a:bodyPr wrap="none" lIns="0" tIns="0" rIns="0" bIns="0" rtlCol="0" anchor="t"/>
          <a:lstStyle/>
          <a:p>
            <a:pPr algn="l" indent="0" marL="0">
              <a:lnSpc>
                <a:spcPts val="3800"/>
              </a:lnSpc>
              <a:buNone/>
            </a:pPr>
            <a:r>
              <a:rPr lang="en-US" sz="3000" dirty="0">
                <a:solidFill>
                  <a:srgbClr val="FFD9BE"/>
                </a:solidFill>
                <a:latin typeface="Quattrocento" pitchFamily="34" charset="0"/>
                <a:ea typeface="Quattrocento" pitchFamily="34" charset="-122"/>
                <a:cs typeface="Quattrocento" pitchFamily="34" charset="-120"/>
              </a:rPr>
              <a:t>System Limitations and Drawbacks</a:t>
            </a:r>
            <a:endParaRPr lang="en-US" sz="3000" dirty="0"/>
          </a:p>
        </p:txBody>
      </p:sp>
      <p:pic>
        <p:nvPicPr>
          <p:cNvPr id="3" name="Image 0" descr="preencoded.png">    </p:cNvPr>
          <p:cNvPicPr>
            <a:picLocks noChangeAspect="1"/>
          </p:cNvPicPr>
          <p:nvPr/>
        </p:nvPicPr>
        <p:blipFill>
          <a:blip r:embed="rId1"/>
          <a:stretch>
            <a:fillRect/>
          </a:stretch>
        </p:blipFill>
        <p:spPr>
          <a:xfrm>
            <a:off x="3278148" y="1397318"/>
            <a:ext cx="1334333" cy="932259"/>
          </a:xfrm>
          <a:prstGeom prst="rect">
            <a:avLst/>
          </a:prstGeom>
        </p:spPr>
      </p:pic>
      <p:pic>
        <p:nvPicPr>
          <p:cNvPr id="4" name="Image 1" descr="preencoded.png">    </p:cNvPr>
          <p:cNvPicPr>
            <a:picLocks noChangeAspect="1"/>
          </p:cNvPicPr>
          <p:nvPr/>
        </p:nvPicPr>
        <p:blipFill>
          <a:blip r:embed="rId2"/>
          <a:stretch>
            <a:fillRect/>
          </a:stretch>
        </p:blipFill>
        <p:spPr>
          <a:xfrm>
            <a:off x="3829645" y="1834039"/>
            <a:ext cx="231219" cy="289084"/>
          </a:xfrm>
          <a:prstGeom prst="rect">
            <a:avLst/>
          </a:prstGeom>
        </p:spPr>
      </p:pic>
      <p:sp>
        <p:nvSpPr>
          <p:cNvPr id="5" name="Text 1"/>
          <p:cNvSpPr/>
          <p:nvPr/>
        </p:nvSpPr>
        <p:spPr>
          <a:xfrm>
            <a:off x="4776907" y="1561743"/>
            <a:ext cx="1934766" cy="241816"/>
          </a:xfrm>
          <a:prstGeom prst="rect">
            <a:avLst/>
          </a:prstGeom>
          <a:noFill/>
          <a:ln/>
        </p:spPr>
        <p:txBody>
          <a:bodyPr wrap="none" lIns="0" tIns="0" rIns="0" bIns="0" rtlCol="0" anchor="t"/>
          <a:lstStyle/>
          <a:p>
            <a:pPr algn="l" indent="0" marL="0">
              <a:lnSpc>
                <a:spcPts val="1900"/>
              </a:lnSpc>
              <a:buNone/>
            </a:pPr>
            <a:r>
              <a:rPr lang="en-US" sz="1500" dirty="0">
                <a:solidFill>
                  <a:srgbClr val="F9EEE7"/>
                </a:solidFill>
                <a:latin typeface="Quattrocento" pitchFamily="34" charset="0"/>
                <a:ea typeface="Quattrocento" pitchFamily="34" charset="-122"/>
                <a:cs typeface="Quattrocento" pitchFamily="34" charset="-120"/>
              </a:rPr>
              <a:t>Technical Challenges</a:t>
            </a:r>
            <a:endParaRPr lang="en-US" sz="1500" dirty="0"/>
          </a:p>
        </p:txBody>
      </p:sp>
      <p:sp>
        <p:nvSpPr>
          <p:cNvPr id="6" name="Text 2"/>
          <p:cNvSpPr/>
          <p:nvPr/>
        </p:nvSpPr>
        <p:spPr>
          <a:xfrm>
            <a:off x="4776907" y="1902143"/>
            <a:ext cx="4369118" cy="263009"/>
          </a:xfrm>
          <a:prstGeom prst="rect">
            <a:avLst/>
          </a:prstGeom>
          <a:noFill/>
          <a:ln/>
        </p:spPr>
        <p:txBody>
          <a:bodyPr wrap="none" lIns="0" tIns="0" rIns="0" bIns="0" rtlCol="0" anchor="t"/>
          <a:lstStyle/>
          <a:p>
            <a:pPr algn="l" indent="0" marL="0">
              <a:lnSpc>
                <a:spcPts val="2050"/>
              </a:lnSpc>
              <a:buNone/>
            </a:pPr>
            <a:r>
              <a:rPr lang="en-US" sz="1250" dirty="0">
                <a:solidFill>
                  <a:srgbClr val="F9EEE7"/>
                </a:solidFill>
                <a:latin typeface="Quattrocento" pitchFamily="34" charset="0"/>
                <a:ea typeface="Quattrocento" pitchFamily="34" charset="-122"/>
                <a:cs typeface="Quattrocento" pitchFamily="34" charset="-120"/>
              </a:rPr>
              <a:t>Camera quality dependency and lighting conditions impact</a:t>
            </a:r>
            <a:endParaRPr lang="en-US" sz="1250" dirty="0"/>
          </a:p>
        </p:txBody>
      </p:sp>
      <p:sp>
        <p:nvSpPr>
          <p:cNvPr id="7" name="Shape 3"/>
          <p:cNvSpPr/>
          <p:nvPr/>
        </p:nvSpPr>
        <p:spPr>
          <a:xfrm>
            <a:off x="4653558" y="2340531"/>
            <a:ext cx="9360218" cy="11430"/>
          </a:xfrm>
          <a:prstGeom prst="roundRect">
            <a:avLst>
              <a:gd name="adj" fmla="val 215827"/>
            </a:avLst>
          </a:prstGeom>
          <a:solidFill>
            <a:srgbClr val="4A6B6A"/>
          </a:solidFill>
          <a:ln/>
        </p:spPr>
      </p:sp>
      <p:pic>
        <p:nvPicPr>
          <p:cNvPr id="8" name="Image 2" descr="preencoded.png">    </p:cNvPr>
          <p:cNvPicPr>
            <a:picLocks noChangeAspect="1"/>
          </p:cNvPicPr>
          <p:nvPr/>
        </p:nvPicPr>
        <p:blipFill>
          <a:blip r:embed="rId3"/>
          <a:stretch>
            <a:fillRect/>
          </a:stretch>
        </p:blipFill>
        <p:spPr>
          <a:xfrm>
            <a:off x="2610922" y="2370653"/>
            <a:ext cx="2668786" cy="932259"/>
          </a:xfrm>
          <a:prstGeom prst="rect">
            <a:avLst/>
          </a:prstGeom>
        </p:spPr>
      </p:pic>
      <p:pic>
        <p:nvPicPr>
          <p:cNvPr id="9" name="Image 3" descr="preencoded.png">    </p:cNvPr>
          <p:cNvPicPr>
            <a:picLocks noChangeAspect="1"/>
          </p:cNvPicPr>
          <p:nvPr/>
        </p:nvPicPr>
        <p:blipFill>
          <a:blip r:embed="rId4"/>
          <a:stretch>
            <a:fillRect/>
          </a:stretch>
        </p:blipFill>
        <p:spPr>
          <a:xfrm>
            <a:off x="3829645" y="2692241"/>
            <a:ext cx="231219" cy="289084"/>
          </a:xfrm>
          <a:prstGeom prst="rect">
            <a:avLst/>
          </a:prstGeom>
        </p:spPr>
      </p:pic>
      <p:sp>
        <p:nvSpPr>
          <p:cNvPr id="10" name="Text 4"/>
          <p:cNvSpPr/>
          <p:nvPr/>
        </p:nvSpPr>
        <p:spPr>
          <a:xfrm>
            <a:off x="5444133" y="2535079"/>
            <a:ext cx="2517815" cy="241816"/>
          </a:xfrm>
          <a:prstGeom prst="rect">
            <a:avLst/>
          </a:prstGeom>
          <a:noFill/>
          <a:ln/>
        </p:spPr>
        <p:txBody>
          <a:bodyPr wrap="none" lIns="0" tIns="0" rIns="0" bIns="0" rtlCol="0" anchor="t"/>
          <a:lstStyle/>
          <a:p>
            <a:pPr algn="l" indent="0" marL="0">
              <a:lnSpc>
                <a:spcPts val="1900"/>
              </a:lnSpc>
              <a:buNone/>
            </a:pPr>
            <a:r>
              <a:rPr lang="en-US" sz="1500" dirty="0">
                <a:solidFill>
                  <a:srgbClr val="F9EEE7"/>
                </a:solidFill>
                <a:latin typeface="Quattrocento" pitchFamily="34" charset="0"/>
                <a:ea typeface="Quattrocento" pitchFamily="34" charset="-122"/>
                <a:cs typeface="Quattrocento" pitchFamily="34" charset="-120"/>
              </a:rPr>
              <a:t>Infrastructure Dependencies</a:t>
            </a:r>
            <a:endParaRPr lang="en-US" sz="1500" dirty="0"/>
          </a:p>
        </p:txBody>
      </p:sp>
      <p:sp>
        <p:nvSpPr>
          <p:cNvPr id="11" name="Text 5"/>
          <p:cNvSpPr/>
          <p:nvPr/>
        </p:nvSpPr>
        <p:spPr>
          <a:xfrm>
            <a:off x="5444133" y="2875478"/>
            <a:ext cx="3011686" cy="263009"/>
          </a:xfrm>
          <a:prstGeom prst="rect">
            <a:avLst/>
          </a:prstGeom>
          <a:noFill/>
          <a:ln/>
        </p:spPr>
        <p:txBody>
          <a:bodyPr wrap="none" lIns="0" tIns="0" rIns="0" bIns="0" rtlCol="0" anchor="t"/>
          <a:lstStyle/>
          <a:p>
            <a:pPr algn="l" indent="0" marL="0">
              <a:lnSpc>
                <a:spcPts val="2050"/>
              </a:lnSpc>
              <a:buNone/>
            </a:pPr>
            <a:r>
              <a:rPr lang="en-US" sz="1250" dirty="0">
                <a:solidFill>
                  <a:srgbClr val="F9EEE7"/>
                </a:solidFill>
                <a:latin typeface="Quattrocento" pitchFamily="34" charset="0"/>
                <a:ea typeface="Quattrocento" pitchFamily="34" charset="-122"/>
                <a:cs typeface="Quattrocento" pitchFamily="34" charset="-120"/>
              </a:rPr>
              <a:t>Network reliability and initial setup costs</a:t>
            </a:r>
            <a:endParaRPr lang="en-US" sz="1250" dirty="0"/>
          </a:p>
        </p:txBody>
      </p:sp>
      <p:sp>
        <p:nvSpPr>
          <p:cNvPr id="12" name="Shape 6"/>
          <p:cNvSpPr/>
          <p:nvPr/>
        </p:nvSpPr>
        <p:spPr>
          <a:xfrm>
            <a:off x="5320784" y="3313867"/>
            <a:ext cx="8692991" cy="11430"/>
          </a:xfrm>
          <a:prstGeom prst="roundRect">
            <a:avLst>
              <a:gd name="adj" fmla="val 215827"/>
            </a:avLst>
          </a:prstGeom>
          <a:solidFill>
            <a:srgbClr val="4A6B6A"/>
          </a:solidFill>
          <a:ln/>
        </p:spPr>
      </p:sp>
      <p:pic>
        <p:nvPicPr>
          <p:cNvPr id="13" name="Image 4" descr="preencoded.png">    </p:cNvPr>
          <p:cNvPicPr>
            <a:picLocks noChangeAspect="1"/>
          </p:cNvPicPr>
          <p:nvPr/>
        </p:nvPicPr>
        <p:blipFill>
          <a:blip r:embed="rId5"/>
          <a:stretch>
            <a:fillRect/>
          </a:stretch>
        </p:blipFill>
        <p:spPr>
          <a:xfrm>
            <a:off x="1943695" y="3343989"/>
            <a:ext cx="4003238" cy="932259"/>
          </a:xfrm>
          <a:prstGeom prst="rect">
            <a:avLst/>
          </a:prstGeom>
        </p:spPr>
      </p:pic>
      <p:pic>
        <p:nvPicPr>
          <p:cNvPr id="14" name="Image 5" descr="preencoded.png">    </p:cNvPr>
          <p:cNvPicPr>
            <a:picLocks noChangeAspect="1"/>
          </p:cNvPicPr>
          <p:nvPr/>
        </p:nvPicPr>
        <p:blipFill>
          <a:blip r:embed="rId6"/>
          <a:stretch>
            <a:fillRect/>
          </a:stretch>
        </p:blipFill>
        <p:spPr>
          <a:xfrm>
            <a:off x="3829645" y="3665577"/>
            <a:ext cx="231219" cy="289084"/>
          </a:xfrm>
          <a:prstGeom prst="rect">
            <a:avLst/>
          </a:prstGeom>
        </p:spPr>
      </p:pic>
      <p:sp>
        <p:nvSpPr>
          <p:cNvPr id="15" name="Text 7"/>
          <p:cNvSpPr/>
          <p:nvPr/>
        </p:nvSpPr>
        <p:spPr>
          <a:xfrm>
            <a:off x="6111359" y="3508415"/>
            <a:ext cx="1934766" cy="241816"/>
          </a:xfrm>
          <a:prstGeom prst="rect">
            <a:avLst/>
          </a:prstGeom>
          <a:noFill/>
          <a:ln/>
        </p:spPr>
        <p:txBody>
          <a:bodyPr wrap="none" lIns="0" tIns="0" rIns="0" bIns="0" rtlCol="0" anchor="t"/>
          <a:lstStyle/>
          <a:p>
            <a:pPr algn="l" indent="0" marL="0">
              <a:lnSpc>
                <a:spcPts val="1900"/>
              </a:lnSpc>
              <a:buNone/>
            </a:pPr>
            <a:r>
              <a:rPr lang="en-US" sz="1500" dirty="0">
                <a:solidFill>
                  <a:srgbClr val="F9EEE7"/>
                </a:solidFill>
                <a:latin typeface="Quattrocento" pitchFamily="34" charset="0"/>
                <a:ea typeface="Quattrocento" pitchFamily="34" charset="-122"/>
                <a:cs typeface="Quattrocento" pitchFamily="34" charset="-120"/>
              </a:rPr>
              <a:t>Privacy Concerns</a:t>
            </a:r>
            <a:endParaRPr lang="en-US" sz="1500" dirty="0"/>
          </a:p>
        </p:txBody>
      </p:sp>
      <p:sp>
        <p:nvSpPr>
          <p:cNvPr id="16" name="Text 8"/>
          <p:cNvSpPr/>
          <p:nvPr/>
        </p:nvSpPr>
        <p:spPr>
          <a:xfrm>
            <a:off x="6111359" y="3848814"/>
            <a:ext cx="3936682" cy="263009"/>
          </a:xfrm>
          <a:prstGeom prst="rect">
            <a:avLst/>
          </a:prstGeom>
          <a:noFill/>
          <a:ln/>
        </p:spPr>
        <p:txBody>
          <a:bodyPr wrap="none" lIns="0" tIns="0" rIns="0" bIns="0" rtlCol="0" anchor="t"/>
          <a:lstStyle/>
          <a:p>
            <a:pPr algn="l" indent="0" marL="0">
              <a:lnSpc>
                <a:spcPts val="2050"/>
              </a:lnSpc>
              <a:buNone/>
            </a:pPr>
            <a:r>
              <a:rPr lang="en-US" sz="1250" dirty="0">
                <a:solidFill>
                  <a:srgbClr val="F9EEE7"/>
                </a:solidFill>
                <a:latin typeface="Quattrocento" pitchFamily="34" charset="0"/>
                <a:ea typeface="Quattrocento" pitchFamily="34" charset="-122"/>
                <a:cs typeface="Quattrocento" pitchFamily="34" charset="-120"/>
              </a:rPr>
              <a:t>Biometric data storage and compliance requirements</a:t>
            </a:r>
            <a:endParaRPr lang="en-US" sz="1250" dirty="0"/>
          </a:p>
        </p:txBody>
      </p:sp>
      <p:sp>
        <p:nvSpPr>
          <p:cNvPr id="17" name="Shape 9"/>
          <p:cNvSpPr/>
          <p:nvPr/>
        </p:nvSpPr>
        <p:spPr>
          <a:xfrm>
            <a:off x="5988010" y="4287203"/>
            <a:ext cx="8025765" cy="11430"/>
          </a:xfrm>
          <a:prstGeom prst="roundRect">
            <a:avLst>
              <a:gd name="adj" fmla="val 215827"/>
            </a:avLst>
          </a:prstGeom>
          <a:solidFill>
            <a:srgbClr val="4A6B6A"/>
          </a:solidFill>
          <a:ln/>
        </p:spPr>
      </p:sp>
      <p:pic>
        <p:nvPicPr>
          <p:cNvPr id="18" name="Image 6" descr="preencoded.png">    </p:cNvPr>
          <p:cNvPicPr>
            <a:picLocks noChangeAspect="1"/>
          </p:cNvPicPr>
          <p:nvPr/>
        </p:nvPicPr>
        <p:blipFill>
          <a:blip r:embed="rId7"/>
          <a:stretch>
            <a:fillRect/>
          </a:stretch>
        </p:blipFill>
        <p:spPr>
          <a:xfrm>
            <a:off x="1276469" y="4317325"/>
            <a:ext cx="5337691" cy="932259"/>
          </a:xfrm>
          <a:prstGeom prst="rect">
            <a:avLst/>
          </a:prstGeom>
        </p:spPr>
      </p:pic>
      <p:pic>
        <p:nvPicPr>
          <p:cNvPr id="19" name="Image 7" descr="preencoded.png">    </p:cNvPr>
          <p:cNvPicPr>
            <a:picLocks noChangeAspect="1"/>
          </p:cNvPicPr>
          <p:nvPr/>
        </p:nvPicPr>
        <p:blipFill>
          <a:blip r:embed="rId8"/>
          <a:stretch>
            <a:fillRect/>
          </a:stretch>
        </p:blipFill>
        <p:spPr>
          <a:xfrm>
            <a:off x="3829645" y="4638913"/>
            <a:ext cx="231219" cy="289084"/>
          </a:xfrm>
          <a:prstGeom prst="rect">
            <a:avLst/>
          </a:prstGeom>
        </p:spPr>
      </p:pic>
      <p:sp>
        <p:nvSpPr>
          <p:cNvPr id="20" name="Text 10"/>
          <p:cNvSpPr/>
          <p:nvPr/>
        </p:nvSpPr>
        <p:spPr>
          <a:xfrm>
            <a:off x="6778585" y="4481751"/>
            <a:ext cx="2056805" cy="241816"/>
          </a:xfrm>
          <a:prstGeom prst="rect">
            <a:avLst/>
          </a:prstGeom>
          <a:noFill/>
          <a:ln/>
        </p:spPr>
        <p:txBody>
          <a:bodyPr wrap="none" lIns="0" tIns="0" rIns="0" bIns="0" rtlCol="0" anchor="t"/>
          <a:lstStyle/>
          <a:p>
            <a:pPr algn="l" indent="0" marL="0">
              <a:lnSpc>
                <a:spcPts val="1900"/>
              </a:lnSpc>
              <a:buNone/>
            </a:pPr>
            <a:r>
              <a:rPr lang="en-US" sz="1500" dirty="0">
                <a:solidFill>
                  <a:srgbClr val="F9EEE7"/>
                </a:solidFill>
                <a:latin typeface="Quattrocento" pitchFamily="34" charset="0"/>
                <a:ea typeface="Quattrocento" pitchFamily="34" charset="-122"/>
                <a:cs typeface="Quattrocento" pitchFamily="34" charset="-120"/>
              </a:rPr>
              <a:t>Algorithmic Limitations</a:t>
            </a:r>
            <a:endParaRPr lang="en-US" sz="1500" dirty="0"/>
          </a:p>
        </p:txBody>
      </p:sp>
      <p:sp>
        <p:nvSpPr>
          <p:cNvPr id="21" name="Text 11"/>
          <p:cNvSpPr/>
          <p:nvPr/>
        </p:nvSpPr>
        <p:spPr>
          <a:xfrm>
            <a:off x="6778585" y="4822150"/>
            <a:ext cx="3027997" cy="263009"/>
          </a:xfrm>
          <a:prstGeom prst="rect">
            <a:avLst/>
          </a:prstGeom>
          <a:noFill/>
          <a:ln/>
        </p:spPr>
        <p:txBody>
          <a:bodyPr wrap="none" lIns="0" tIns="0" rIns="0" bIns="0" rtlCol="0" anchor="t"/>
          <a:lstStyle/>
          <a:p>
            <a:pPr algn="l" indent="0" marL="0">
              <a:lnSpc>
                <a:spcPts val="2050"/>
              </a:lnSpc>
              <a:buNone/>
            </a:pPr>
            <a:r>
              <a:rPr lang="en-US" sz="1250" dirty="0">
                <a:solidFill>
                  <a:srgbClr val="F9EEE7"/>
                </a:solidFill>
                <a:latin typeface="Quattrocento" pitchFamily="34" charset="0"/>
                <a:ea typeface="Quattrocento" pitchFamily="34" charset="-122"/>
                <a:cs typeface="Quattrocento" pitchFamily="34" charset="-120"/>
              </a:rPr>
              <a:t>System bias and false positives/negatives</a:t>
            </a:r>
            <a:endParaRPr lang="en-US" sz="1250" dirty="0"/>
          </a:p>
        </p:txBody>
      </p:sp>
      <p:sp>
        <p:nvSpPr>
          <p:cNvPr id="22" name="Shape 12"/>
          <p:cNvSpPr/>
          <p:nvPr/>
        </p:nvSpPr>
        <p:spPr>
          <a:xfrm>
            <a:off x="6655237" y="5260538"/>
            <a:ext cx="7358539" cy="11430"/>
          </a:xfrm>
          <a:prstGeom prst="roundRect">
            <a:avLst>
              <a:gd name="adj" fmla="val 215827"/>
            </a:avLst>
          </a:prstGeom>
          <a:solidFill>
            <a:srgbClr val="4A6B6A"/>
          </a:solidFill>
          <a:ln/>
        </p:spPr>
      </p:sp>
      <p:pic>
        <p:nvPicPr>
          <p:cNvPr id="23" name="Image 8" descr="preencoded.png">    </p:cNvPr>
          <p:cNvPicPr>
            <a:picLocks noChangeAspect="1"/>
          </p:cNvPicPr>
          <p:nvPr/>
        </p:nvPicPr>
        <p:blipFill>
          <a:blip r:embed="rId9"/>
          <a:stretch>
            <a:fillRect/>
          </a:stretch>
        </p:blipFill>
        <p:spPr>
          <a:xfrm>
            <a:off x="609243" y="5290661"/>
            <a:ext cx="6672143" cy="932259"/>
          </a:xfrm>
          <a:prstGeom prst="rect">
            <a:avLst/>
          </a:prstGeom>
        </p:spPr>
      </p:pic>
      <p:pic>
        <p:nvPicPr>
          <p:cNvPr id="24" name="Image 9" descr="preencoded.png">    </p:cNvPr>
          <p:cNvPicPr>
            <a:picLocks noChangeAspect="1"/>
          </p:cNvPicPr>
          <p:nvPr/>
        </p:nvPicPr>
        <p:blipFill>
          <a:blip r:embed="rId10"/>
          <a:stretch>
            <a:fillRect/>
          </a:stretch>
        </p:blipFill>
        <p:spPr>
          <a:xfrm>
            <a:off x="3829645" y="5612249"/>
            <a:ext cx="231219" cy="289084"/>
          </a:xfrm>
          <a:prstGeom prst="rect">
            <a:avLst/>
          </a:prstGeom>
        </p:spPr>
      </p:pic>
      <p:sp>
        <p:nvSpPr>
          <p:cNvPr id="25" name="Text 13"/>
          <p:cNvSpPr/>
          <p:nvPr/>
        </p:nvSpPr>
        <p:spPr>
          <a:xfrm>
            <a:off x="7445812" y="5455087"/>
            <a:ext cx="1972270" cy="241816"/>
          </a:xfrm>
          <a:prstGeom prst="rect">
            <a:avLst/>
          </a:prstGeom>
          <a:noFill/>
          <a:ln/>
        </p:spPr>
        <p:txBody>
          <a:bodyPr wrap="none" lIns="0" tIns="0" rIns="0" bIns="0" rtlCol="0" anchor="t"/>
          <a:lstStyle/>
          <a:p>
            <a:pPr algn="l" indent="0" marL="0">
              <a:lnSpc>
                <a:spcPts val="1900"/>
              </a:lnSpc>
              <a:buNone/>
            </a:pPr>
            <a:r>
              <a:rPr lang="en-US" sz="1500" dirty="0">
                <a:solidFill>
                  <a:srgbClr val="F9EEE7"/>
                </a:solidFill>
                <a:latin typeface="Quattrocento" pitchFamily="34" charset="0"/>
                <a:ea typeface="Quattrocento" pitchFamily="34" charset="-122"/>
                <a:cs typeface="Quattrocento" pitchFamily="34" charset="-120"/>
              </a:rPr>
              <a:t>Environmental Factors</a:t>
            </a:r>
            <a:endParaRPr lang="en-US" sz="1500" dirty="0"/>
          </a:p>
        </p:txBody>
      </p:sp>
      <p:sp>
        <p:nvSpPr>
          <p:cNvPr id="26" name="Text 14"/>
          <p:cNvSpPr/>
          <p:nvPr/>
        </p:nvSpPr>
        <p:spPr>
          <a:xfrm>
            <a:off x="7445812" y="5795486"/>
            <a:ext cx="3839408" cy="263009"/>
          </a:xfrm>
          <a:prstGeom prst="rect">
            <a:avLst/>
          </a:prstGeom>
          <a:noFill/>
          <a:ln/>
        </p:spPr>
        <p:txBody>
          <a:bodyPr wrap="none" lIns="0" tIns="0" rIns="0" bIns="0" rtlCol="0" anchor="t"/>
          <a:lstStyle/>
          <a:p>
            <a:pPr algn="l" indent="0" marL="0">
              <a:lnSpc>
                <a:spcPts val="2050"/>
              </a:lnSpc>
              <a:buNone/>
            </a:pPr>
            <a:r>
              <a:rPr lang="en-US" sz="1250" dirty="0">
                <a:solidFill>
                  <a:srgbClr val="F9EEE7"/>
                </a:solidFill>
                <a:latin typeface="Quattrocento" pitchFamily="34" charset="0"/>
                <a:ea typeface="Quattrocento" pitchFamily="34" charset="-122"/>
                <a:cs typeface="Quattrocento" pitchFamily="34" charset="-120"/>
              </a:rPr>
              <a:t>Performance in crowded areas and outdoor settings</a:t>
            </a:r>
            <a:endParaRPr lang="en-US" sz="1250" dirty="0"/>
          </a:p>
        </p:txBody>
      </p:sp>
      <p:sp>
        <p:nvSpPr>
          <p:cNvPr id="27" name="Text 15"/>
          <p:cNvSpPr/>
          <p:nvPr/>
        </p:nvSpPr>
        <p:spPr>
          <a:xfrm>
            <a:off x="575548" y="6407825"/>
            <a:ext cx="13479304" cy="526018"/>
          </a:xfrm>
          <a:prstGeom prst="rect">
            <a:avLst/>
          </a:prstGeom>
          <a:noFill/>
          <a:ln/>
        </p:spPr>
        <p:txBody>
          <a:bodyPr wrap="square" lIns="0" tIns="0" rIns="0" bIns="0" rtlCol="0" anchor="t"/>
          <a:lstStyle/>
          <a:p>
            <a:pPr algn="l" indent="0" marL="0">
              <a:lnSpc>
                <a:spcPts val="2050"/>
              </a:lnSpc>
              <a:buNone/>
            </a:pPr>
            <a:r>
              <a:rPr lang="en-US" sz="1250" dirty="0">
                <a:solidFill>
                  <a:srgbClr val="F9EEE7"/>
                </a:solidFill>
                <a:latin typeface="Quattrocento" pitchFamily="34" charset="0"/>
                <a:ea typeface="Quattrocento" pitchFamily="34" charset="-122"/>
                <a:cs typeface="Quattrocento" pitchFamily="34" charset="-120"/>
              </a:rPr>
              <a:t>The system faces challenges related to environmental conditions such as inconsistent lighting, which can significantly reduce recognition accuracy. Facial obstructions like masks or sunglasses can obscure features, making authentication difficult. Additionally, the system's effectiveness depends heavily on camera quality and network reliability.</a:t>
            </a:r>
            <a:endParaRPr lang="en-US" sz="1250" dirty="0"/>
          </a:p>
        </p:txBody>
      </p:sp>
      <p:sp>
        <p:nvSpPr>
          <p:cNvPr id="28" name="Text 16"/>
          <p:cNvSpPr/>
          <p:nvPr/>
        </p:nvSpPr>
        <p:spPr>
          <a:xfrm>
            <a:off x="575548" y="7118747"/>
            <a:ext cx="13479304" cy="526018"/>
          </a:xfrm>
          <a:prstGeom prst="rect">
            <a:avLst/>
          </a:prstGeom>
          <a:noFill/>
          <a:ln/>
        </p:spPr>
        <p:txBody>
          <a:bodyPr wrap="square" lIns="0" tIns="0" rIns="0" bIns="0" rtlCol="0" anchor="t"/>
          <a:lstStyle/>
          <a:p>
            <a:pPr algn="l" indent="0" marL="0">
              <a:lnSpc>
                <a:spcPts val="2050"/>
              </a:lnSpc>
              <a:buNone/>
            </a:pPr>
            <a:r>
              <a:rPr lang="en-US" sz="1250" dirty="0">
                <a:solidFill>
                  <a:srgbClr val="F9EEE7"/>
                </a:solidFill>
                <a:latin typeface="Quattrocento" pitchFamily="34" charset="0"/>
                <a:ea typeface="Quattrocento" pitchFamily="34" charset="-122"/>
                <a:cs typeface="Quattrocento" pitchFamily="34" charset="-120"/>
              </a:rPr>
              <a:t>Privacy concerns regarding biometric data storage must be addressed to comply with regulations like GDPR. The system may also exhibit bias toward specific demographic groups, resulting in unequal accuracy across different populations.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87348" y="697230"/>
            <a:ext cx="4621530" cy="577691"/>
          </a:xfrm>
          <a:prstGeom prst="rect">
            <a:avLst/>
          </a:prstGeom>
          <a:noFill/>
          <a:ln/>
        </p:spPr>
        <p:txBody>
          <a:bodyPr wrap="none" lIns="0" tIns="0" rIns="0" bIns="0" rtlCol="0" anchor="t"/>
          <a:lstStyle/>
          <a:p>
            <a:pPr algn="l" indent="0" marL="0">
              <a:lnSpc>
                <a:spcPts val="4500"/>
              </a:lnSpc>
              <a:buNone/>
            </a:pPr>
            <a:r>
              <a:rPr lang="en-US" sz="3600" dirty="0">
                <a:solidFill>
                  <a:srgbClr val="FFD9BE"/>
                </a:solidFill>
                <a:latin typeface="Quattrocento" pitchFamily="34" charset="0"/>
                <a:ea typeface="Quattrocento" pitchFamily="34" charset="-122"/>
                <a:cs typeface="Quattrocento" pitchFamily="34" charset="-120"/>
              </a:rPr>
              <a:t>Conclusion</a:t>
            </a:r>
            <a:endParaRPr lang="en-US" sz="3600" dirty="0"/>
          </a:p>
        </p:txBody>
      </p:sp>
      <p:sp>
        <p:nvSpPr>
          <p:cNvPr id="3" name="Shape 1"/>
          <p:cNvSpPr/>
          <p:nvPr/>
        </p:nvSpPr>
        <p:spPr>
          <a:xfrm>
            <a:off x="687348" y="1667708"/>
            <a:ext cx="2209205" cy="1113592"/>
          </a:xfrm>
          <a:prstGeom prst="roundRect">
            <a:avLst>
              <a:gd name="adj" fmla="val 2646"/>
            </a:avLst>
          </a:prstGeom>
          <a:solidFill>
            <a:srgbClr val="315251"/>
          </a:solidFill>
          <a:ln/>
        </p:spPr>
      </p:sp>
      <p:pic>
        <p:nvPicPr>
          <p:cNvPr id="4" name="Image 0" descr="preencoded.png">    </p:cNvPr>
          <p:cNvPicPr>
            <a:picLocks noChangeAspect="1"/>
          </p:cNvPicPr>
          <p:nvPr/>
        </p:nvPicPr>
        <p:blipFill>
          <a:blip r:embed="rId1"/>
          <a:stretch>
            <a:fillRect/>
          </a:stretch>
        </p:blipFill>
        <p:spPr>
          <a:xfrm>
            <a:off x="1653897" y="2051923"/>
            <a:ext cx="276106" cy="345162"/>
          </a:xfrm>
          <a:prstGeom prst="rect">
            <a:avLst/>
          </a:prstGeom>
        </p:spPr>
      </p:pic>
      <p:sp>
        <p:nvSpPr>
          <p:cNvPr id="5" name="Text 2"/>
          <p:cNvSpPr/>
          <p:nvPr/>
        </p:nvSpPr>
        <p:spPr>
          <a:xfrm>
            <a:off x="3092887" y="1864042"/>
            <a:ext cx="2870002" cy="288846"/>
          </a:xfrm>
          <a:prstGeom prst="rect">
            <a:avLst/>
          </a:prstGeom>
          <a:noFill/>
          <a:ln/>
        </p:spPr>
        <p:txBody>
          <a:bodyPr wrap="none" lIns="0" tIns="0" rIns="0" bIns="0" rtlCol="0" anchor="t"/>
          <a:lstStyle/>
          <a:p>
            <a:pPr algn="l" indent="0" marL="0">
              <a:lnSpc>
                <a:spcPts val="2250"/>
              </a:lnSpc>
              <a:buNone/>
            </a:pPr>
            <a:r>
              <a:rPr lang="en-US" sz="1800" dirty="0">
                <a:solidFill>
                  <a:srgbClr val="F9EEE7"/>
                </a:solidFill>
                <a:latin typeface="Quattrocento" pitchFamily="34" charset="0"/>
                <a:ea typeface="Quattrocento" pitchFamily="34" charset="-122"/>
                <a:cs typeface="Quattrocento" pitchFamily="34" charset="-120"/>
              </a:rPr>
              <a:t>Technological Achievement</a:t>
            </a:r>
            <a:endParaRPr lang="en-US" sz="1800" dirty="0"/>
          </a:p>
        </p:txBody>
      </p:sp>
      <p:sp>
        <p:nvSpPr>
          <p:cNvPr id="6" name="Text 3"/>
          <p:cNvSpPr/>
          <p:nvPr/>
        </p:nvSpPr>
        <p:spPr>
          <a:xfrm>
            <a:off x="3092887" y="2270641"/>
            <a:ext cx="6966585" cy="314325"/>
          </a:xfrm>
          <a:prstGeom prst="rect">
            <a:avLst/>
          </a:prstGeom>
          <a:noFill/>
          <a:ln/>
        </p:spPr>
        <p:txBody>
          <a:bodyPr wrap="none" lIns="0" tIns="0" rIns="0" bIns="0" rtlCol="0" anchor="t"/>
          <a:lstStyle/>
          <a:p>
            <a:pPr algn="l" indent="0" marL="0">
              <a:lnSpc>
                <a:spcPts val="2450"/>
              </a:lnSpc>
              <a:buNone/>
            </a:pPr>
            <a:r>
              <a:rPr lang="en-US" sz="1500" dirty="0">
                <a:solidFill>
                  <a:srgbClr val="F9EEE7"/>
                </a:solidFill>
                <a:latin typeface="Quattrocento" pitchFamily="34" charset="0"/>
                <a:ea typeface="Quattrocento" pitchFamily="34" charset="-122"/>
                <a:cs typeface="Quattrocento" pitchFamily="34" charset="-120"/>
              </a:rPr>
              <a:t>Successfully implemented Haar cascade classifier and frontal facial recognition</a:t>
            </a:r>
            <a:endParaRPr lang="en-US" sz="1500" dirty="0"/>
          </a:p>
        </p:txBody>
      </p:sp>
      <p:sp>
        <p:nvSpPr>
          <p:cNvPr id="7" name="Shape 4"/>
          <p:cNvSpPr/>
          <p:nvPr/>
        </p:nvSpPr>
        <p:spPr>
          <a:xfrm>
            <a:off x="2994660" y="2771775"/>
            <a:ext cx="10850285" cy="11430"/>
          </a:xfrm>
          <a:prstGeom prst="roundRect">
            <a:avLst>
              <a:gd name="adj" fmla="val 257767"/>
            </a:avLst>
          </a:prstGeom>
          <a:solidFill>
            <a:srgbClr val="4A6B6A"/>
          </a:solidFill>
          <a:ln/>
        </p:spPr>
      </p:sp>
      <p:sp>
        <p:nvSpPr>
          <p:cNvPr id="8" name="Shape 5"/>
          <p:cNvSpPr/>
          <p:nvPr/>
        </p:nvSpPr>
        <p:spPr>
          <a:xfrm>
            <a:off x="687348" y="2879408"/>
            <a:ext cx="4418528" cy="1113592"/>
          </a:xfrm>
          <a:prstGeom prst="roundRect">
            <a:avLst>
              <a:gd name="adj" fmla="val 2646"/>
            </a:avLst>
          </a:prstGeom>
          <a:solidFill>
            <a:srgbClr val="315251"/>
          </a:solidFill>
          <a:ln/>
        </p:spPr>
      </p:sp>
      <p:pic>
        <p:nvPicPr>
          <p:cNvPr id="9" name="Image 1" descr="preencoded.png">    </p:cNvPr>
          <p:cNvPicPr>
            <a:picLocks noChangeAspect="1"/>
          </p:cNvPicPr>
          <p:nvPr/>
        </p:nvPicPr>
        <p:blipFill>
          <a:blip r:embed="rId2"/>
          <a:stretch>
            <a:fillRect/>
          </a:stretch>
        </p:blipFill>
        <p:spPr>
          <a:xfrm>
            <a:off x="2758559" y="3263622"/>
            <a:ext cx="276106" cy="345162"/>
          </a:xfrm>
          <a:prstGeom prst="rect">
            <a:avLst/>
          </a:prstGeom>
        </p:spPr>
      </p:pic>
      <p:sp>
        <p:nvSpPr>
          <p:cNvPr id="10" name="Text 6"/>
          <p:cNvSpPr/>
          <p:nvPr/>
        </p:nvSpPr>
        <p:spPr>
          <a:xfrm>
            <a:off x="5302210" y="3075742"/>
            <a:ext cx="2310765" cy="288846"/>
          </a:xfrm>
          <a:prstGeom prst="rect">
            <a:avLst/>
          </a:prstGeom>
          <a:noFill/>
          <a:ln/>
        </p:spPr>
        <p:txBody>
          <a:bodyPr wrap="none" lIns="0" tIns="0" rIns="0" bIns="0" rtlCol="0" anchor="t"/>
          <a:lstStyle/>
          <a:p>
            <a:pPr algn="l" indent="0" marL="0">
              <a:lnSpc>
                <a:spcPts val="2250"/>
              </a:lnSpc>
              <a:buNone/>
            </a:pPr>
            <a:r>
              <a:rPr lang="en-US" sz="1800" dirty="0">
                <a:solidFill>
                  <a:srgbClr val="F9EEE7"/>
                </a:solidFill>
                <a:latin typeface="Quattrocento" pitchFamily="34" charset="0"/>
                <a:ea typeface="Quattrocento" pitchFamily="34" charset="-122"/>
                <a:cs typeface="Quattrocento" pitchFamily="34" charset="-120"/>
              </a:rPr>
              <a:t>Challenge Navigation</a:t>
            </a:r>
            <a:endParaRPr lang="en-US" sz="1800" dirty="0"/>
          </a:p>
        </p:txBody>
      </p:sp>
      <p:sp>
        <p:nvSpPr>
          <p:cNvPr id="11" name="Text 7"/>
          <p:cNvSpPr/>
          <p:nvPr/>
        </p:nvSpPr>
        <p:spPr>
          <a:xfrm>
            <a:off x="5302210" y="3482340"/>
            <a:ext cx="4418171" cy="314325"/>
          </a:xfrm>
          <a:prstGeom prst="rect">
            <a:avLst/>
          </a:prstGeom>
          <a:noFill/>
          <a:ln/>
        </p:spPr>
        <p:txBody>
          <a:bodyPr wrap="none" lIns="0" tIns="0" rIns="0" bIns="0" rtlCol="0" anchor="t"/>
          <a:lstStyle/>
          <a:p>
            <a:pPr algn="l" indent="0" marL="0">
              <a:lnSpc>
                <a:spcPts val="2450"/>
              </a:lnSpc>
              <a:buNone/>
            </a:pPr>
            <a:r>
              <a:rPr lang="en-US" sz="1500" dirty="0">
                <a:solidFill>
                  <a:srgbClr val="F9EEE7"/>
                </a:solidFill>
                <a:latin typeface="Quattrocento" pitchFamily="34" charset="0"/>
                <a:ea typeface="Quattrocento" pitchFamily="34" charset="-122"/>
                <a:cs typeface="Quattrocento" pitchFamily="34" charset="-120"/>
              </a:rPr>
              <a:t>Overcame lighting variations and facial occlusions</a:t>
            </a:r>
            <a:endParaRPr lang="en-US" sz="1500" dirty="0"/>
          </a:p>
        </p:txBody>
      </p:sp>
      <p:sp>
        <p:nvSpPr>
          <p:cNvPr id="12" name="Shape 8"/>
          <p:cNvSpPr/>
          <p:nvPr/>
        </p:nvSpPr>
        <p:spPr>
          <a:xfrm>
            <a:off x="5203984" y="3983474"/>
            <a:ext cx="8640961" cy="11430"/>
          </a:xfrm>
          <a:prstGeom prst="roundRect">
            <a:avLst>
              <a:gd name="adj" fmla="val 257767"/>
            </a:avLst>
          </a:prstGeom>
          <a:solidFill>
            <a:srgbClr val="4A6B6A"/>
          </a:solidFill>
          <a:ln/>
        </p:spPr>
      </p:sp>
      <p:sp>
        <p:nvSpPr>
          <p:cNvPr id="13" name="Shape 9"/>
          <p:cNvSpPr/>
          <p:nvPr/>
        </p:nvSpPr>
        <p:spPr>
          <a:xfrm>
            <a:off x="687348" y="4091107"/>
            <a:ext cx="6627852" cy="1113592"/>
          </a:xfrm>
          <a:prstGeom prst="roundRect">
            <a:avLst>
              <a:gd name="adj" fmla="val 2646"/>
            </a:avLst>
          </a:prstGeom>
          <a:solidFill>
            <a:srgbClr val="315251"/>
          </a:solidFill>
          <a:ln/>
        </p:spPr>
      </p:sp>
      <p:pic>
        <p:nvPicPr>
          <p:cNvPr id="14" name="Image 2" descr="preencoded.png">    </p:cNvPr>
          <p:cNvPicPr>
            <a:picLocks noChangeAspect="1"/>
          </p:cNvPicPr>
          <p:nvPr/>
        </p:nvPicPr>
        <p:blipFill>
          <a:blip r:embed="rId3"/>
          <a:stretch>
            <a:fillRect/>
          </a:stretch>
        </p:blipFill>
        <p:spPr>
          <a:xfrm>
            <a:off x="3863221" y="4475321"/>
            <a:ext cx="276106" cy="345162"/>
          </a:xfrm>
          <a:prstGeom prst="rect">
            <a:avLst/>
          </a:prstGeom>
        </p:spPr>
      </p:pic>
      <p:sp>
        <p:nvSpPr>
          <p:cNvPr id="15" name="Text 10"/>
          <p:cNvSpPr/>
          <p:nvPr/>
        </p:nvSpPr>
        <p:spPr>
          <a:xfrm>
            <a:off x="7511534" y="4287441"/>
            <a:ext cx="2715458" cy="288846"/>
          </a:xfrm>
          <a:prstGeom prst="rect">
            <a:avLst/>
          </a:prstGeom>
          <a:noFill/>
          <a:ln/>
        </p:spPr>
        <p:txBody>
          <a:bodyPr wrap="none" lIns="0" tIns="0" rIns="0" bIns="0" rtlCol="0" anchor="t"/>
          <a:lstStyle/>
          <a:p>
            <a:pPr algn="l" indent="0" marL="0">
              <a:lnSpc>
                <a:spcPts val="2250"/>
              </a:lnSpc>
              <a:buNone/>
            </a:pPr>
            <a:r>
              <a:rPr lang="en-US" sz="1800" dirty="0">
                <a:solidFill>
                  <a:srgbClr val="F9EEE7"/>
                </a:solidFill>
                <a:latin typeface="Quattrocento" pitchFamily="34" charset="0"/>
                <a:ea typeface="Quattrocento" pitchFamily="34" charset="-122"/>
                <a:cs typeface="Quattrocento" pitchFamily="34" charset="-120"/>
              </a:rPr>
              <a:t>Continuous Improvement</a:t>
            </a:r>
            <a:endParaRPr lang="en-US" sz="1800" dirty="0"/>
          </a:p>
        </p:txBody>
      </p:sp>
      <p:sp>
        <p:nvSpPr>
          <p:cNvPr id="16" name="Text 11"/>
          <p:cNvSpPr/>
          <p:nvPr/>
        </p:nvSpPr>
        <p:spPr>
          <a:xfrm>
            <a:off x="7511534" y="4694039"/>
            <a:ext cx="5581055" cy="314325"/>
          </a:xfrm>
          <a:prstGeom prst="rect">
            <a:avLst/>
          </a:prstGeom>
          <a:noFill/>
          <a:ln/>
        </p:spPr>
        <p:txBody>
          <a:bodyPr wrap="none" lIns="0" tIns="0" rIns="0" bIns="0" rtlCol="0" anchor="t"/>
          <a:lstStyle/>
          <a:p>
            <a:pPr algn="l" indent="0" marL="0">
              <a:lnSpc>
                <a:spcPts val="2450"/>
              </a:lnSpc>
              <a:buNone/>
            </a:pPr>
            <a:r>
              <a:rPr lang="en-US" sz="1500" dirty="0">
                <a:solidFill>
                  <a:srgbClr val="F9EEE7"/>
                </a:solidFill>
                <a:latin typeface="Quattrocento" pitchFamily="34" charset="0"/>
                <a:ea typeface="Quattrocento" pitchFamily="34" charset="-122"/>
                <a:cs typeface="Quattrocento" pitchFamily="34" charset="-120"/>
              </a:rPr>
              <a:t>Room for enhancement in algorithms and system performance</a:t>
            </a:r>
            <a:endParaRPr lang="en-US" sz="1500" dirty="0"/>
          </a:p>
        </p:txBody>
      </p:sp>
      <p:sp>
        <p:nvSpPr>
          <p:cNvPr id="17" name="Text 12"/>
          <p:cNvSpPr/>
          <p:nvPr/>
        </p:nvSpPr>
        <p:spPr>
          <a:xfrm>
            <a:off x="687348" y="5425559"/>
            <a:ext cx="13255704" cy="942975"/>
          </a:xfrm>
          <a:prstGeom prst="rect">
            <a:avLst/>
          </a:prstGeom>
          <a:noFill/>
          <a:ln/>
        </p:spPr>
        <p:txBody>
          <a:bodyPr wrap="square" lIns="0" tIns="0" rIns="0" bIns="0" rtlCol="0" anchor="t"/>
          <a:lstStyle/>
          <a:p>
            <a:pPr algn="l" indent="0" marL="0">
              <a:lnSpc>
                <a:spcPts val="2450"/>
              </a:lnSpc>
              <a:buNone/>
            </a:pPr>
            <a:r>
              <a:rPr lang="en-US" sz="1500" dirty="0">
                <a:solidFill>
                  <a:srgbClr val="F9EEE7"/>
                </a:solidFill>
                <a:latin typeface="Quattrocento" pitchFamily="34" charset="0"/>
                <a:ea typeface="Quattrocento" pitchFamily="34" charset="-122"/>
                <a:cs typeface="Quattrocento" pitchFamily="34" charset="-120"/>
              </a:rPr>
              <a:t>Our project represents a significant leap forward in attendance management systems through the creation of an Automatic Face Recognition Attendance Management System. By harnessing sophisticated technologies such as the Haar cascade classifier and frontal facial recognition algorithm, we have successfully showcased the system's robust capabilities in detecting and recognizing individual students' faces from video frames.</a:t>
            </a:r>
            <a:endParaRPr lang="en-US" sz="1500" dirty="0"/>
          </a:p>
        </p:txBody>
      </p:sp>
      <p:sp>
        <p:nvSpPr>
          <p:cNvPr id="18" name="Text 13"/>
          <p:cNvSpPr/>
          <p:nvPr/>
        </p:nvSpPr>
        <p:spPr>
          <a:xfrm>
            <a:off x="687348" y="6589395"/>
            <a:ext cx="13255704" cy="942975"/>
          </a:xfrm>
          <a:prstGeom prst="rect">
            <a:avLst/>
          </a:prstGeom>
          <a:noFill/>
          <a:ln/>
        </p:spPr>
        <p:txBody>
          <a:bodyPr wrap="square" lIns="0" tIns="0" rIns="0" bIns="0" rtlCol="0" anchor="t"/>
          <a:lstStyle/>
          <a:p>
            <a:pPr algn="l" indent="0" marL="0">
              <a:lnSpc>
                <a:spcPts val="2450"/>
              </a:lnSpc>
              <a:buNone/>
            </a:pPr>
            <a:r>
              <a:rPr lang="en-US" sz="1500" dirty="0">
                <a:solidFill>
                  <a:srgbClr val="F9EEE7"/>
                </a:solidFill>
                <a:latin typeface="Quattrocento" pitchFamily="34" charset="0"/>
                <a:ea typeface="Quattrocento" pitchFamily="34" charset="-122"/>
                <a:cs typeface="Quattrocento" pitchFamily="34" charset="-120"/>
              </a:rPr>
              <a:t>Throughout implementation, we encountered and navigated through challenges ranging from variations in lighting conditions to facial occlusions. Through our relentless pursuit of innovation, we integrated advanced image processing techniques that bolstered the system's accuracy and reliability across diverse environmental conditions.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35925" y="607933"/>
            <a:ext cx="4947404" cy="618292"/>
          </a:xfrm>
          <a:prstGeom prst="rect">
            <a:avLst/>
          </a:prstGeom>
          <a:noFill/>
          <a:ln/>
        </p:spPr>
        <p:txBody>
          <a:bodyPr wrap="none" lIns="0" tIns="0" rIns="0" bIns="0" rtlCol="0" anchor="t"/>
          <a:lstStyle/>
          <a:p>
            <a:pPr algn="l" indent="0" marL="0">
              <a:lnSpc>
                <a:spcPts val="4850"/>
              </a:lnSpc>
              <a:buNone/>
            </a:pPr>
            <a:r>
              <a:rPr lang="en-US" sz="3850" dirty="0">
                <a:solidFill>
                  <a:srgbClr val="FFD9BE"/>
                </a:solidFill>
                <a:latin typeface="Quattrocento" pitchFamily="34" charset="0"/>
                <a:ea typeface="Quattrocento" pitchFamily="34" charset="-122"/>
                <a:cs typeface="Quattrocento" pitchFamily="34" charset="-120"/>
              </a:rPr>
              <a:t>Future Enhancements</a:t>
            </a:r>
            <a:endParaRPr lang="en-US" sz="3850" dirty="0"/>
          </a:p>
        </p:txBody>
      </p:sp>
      <p:pic>
        <p:nvPicPr>
          <p:cNvPr id="3" name="Image 0" descr="preencoded.png">    </p:cNvPr>
          <p:cNvPicPr>
            <a:picLocks noChangeAspect="1"/>
          </p:cNvPicPr>
          <p:nvPr/>
        </p:nvPicPr>
        <p:blipFill>
          <a:blip r:embed="rId1"/>
          <a:stretch>
            <a:fillRect/>
          </a:stretch>
        </p:blipFill>
        <p:spPr>
          <a:xfrm>
            <a:off x="735925" y="1646753"/>
            <a:ext cx="3289578" cy="841058"/>
          </a:xfrm>
          <a:prstGeom prst="rect">
            <a:avLst/>
          </a:prstGeom>
        </p:spPr>
      </p:pic>
      <p:sp>
        <p:nvSpPr>
          <p:cNvPr id="4" name="Text 1"/>
          <p:cNvSpPr/>
          <p:nvPr/>
        </p:nvSpPr>
        <p:spPr>
          <a:xfrm>
            <a:off x="946190" y="2803208"/>
            <a:ext cx="2473643" cy="309205"/>
          </a:xfrm>
          <a:prstGeom prst="rect">
            <a:avLst/>
          </a:prstGeom>
          <a:noFill/>
          <a:ln/>
        </p:spPr>
        <p:txBody>
          <a:bodyPr wrap="none" lIns="0" tIns="0" rIns="0" bIns="0" rtlCol="0" anchor="t"/>
          <a:lstStyle/>
          <a:p>
            <a:pPr algn="l" indent="0" marL="0">
              <a:lnSpc>
                <a:spcPts val="2400"/>
              </a:lnSpc>
              <a:buNone/>
            </a:pPr>
            <a:r>
              <a:rPr lang="en-US" sz="1900" dirty="0">
                <a:solidFill>
                  <a:srgbClr val="F9EEE7"/>
                </a:solidFill>
                <a:latin typeface="Quattrocento" pitchFamily="34" charset="0"/>
                <a:ea typeface="Quattrocento" pitchFamily="34" charset="-122"/>
                <a:cs typeface="Quattrocento" pitchFamily="34" charset="-120"/>
              </a:rPr>
              <a:t>Advanced Algorithms</a:t>
            </a:r>
            <a:endParaRPr lang="en-US" sz="1900" dirty="0"/>
          </a:p>
        </p:txBody>
      </p:sp>
      <p:sp>
        <p:nvSpPr>
          <p:cNvPr id="5" name="Text 2"/>
          <p:cNvSpPr/>
          <p:nvPr/>
        </p:nvSpPr>
        <p:spPr>
          <a:xfrm>
            <a:off x="946190" y="3238500"/>
            <a:ext cx="2869049" cy="2018109"/>
          </a:xfrm>
          <a:prstGeom prst="rect">
            <a:avLst/>
          </a:prstGeom>
          <a:noFill/>
          <a:ln/>
        </p:spPr>
        <p:txBody>
          <a:bodyPr wrap="square" lIns="0" tIns="0" rIns="0" bIns="0" rtlCol="0" anchor="t"/>
          <a:lstStyle/>
          <a:p>
            <a:pPr algn="l" indent="0" marL="0">
              <a:lnSpc>
                <a:spcPts val="2600"/>
              </a:lnSpc>
              <a:buNone/>
            </a:pPr>
            <a:r>
              <a:rPr lang="en-US" sz="1650" dirty="0">
                <a:solidFill>
                  <a:srgbClr val="F9EEE7"/>
                </a:solidFill>
                <a:latin typeface="Quattrocento" pitchFamily="34" charset="0"/>
                <a:ea typeface="Quattrocento" pitchFamily="34" charset="-122"/>
                <a:cs typeface="Quattrocento" pitchFamily="34" charset="-120"/>
              </a:rPr>
              <a:t>Exploring deep learning approaches for more sophisticated and adaptive recognition capabilities, particularly in challenging conditions.</a:t>
            </a:r>
            <a:endParaRPr lang="en-US" sz="1650" dirty="0"/>
          </a:p>
        </p:txBody>
      </p:sp>
      <p:pic>
        <p:nvPicPr>
          <p:cNvPr id="6" name="Image 1" descr="preencoded.png">    </p:cNvPr>
          <p:cNvPicPr>
            <a:picLocks noChangeAspect="1"/>
          </p:cNvPicPr>
          <p:nvPr/>
        </p:nvPicPr>
        <p:blipFill>
          <a:blip r:embed="rId2"/>
          <a:stretch>
            <a:fillRect/>
          </a:stretch>
        </p:blipFill>
        <p:spPr>
          <a:xfrm>
            <a:off x="4025503" y="1646753"/>
            <a:ext cx="3289697" cy="841058"/>
          </a:xfrm>
          <a:prstGeom prst="rect">
            <a:avLst/>
          </a:prstGeom>
        </p:spPr>
      </p:pic>
      <p:sp>
        <p:nvSpPr>
          <p:cNvPr id="7" name="Text 3"/>
          <p:cNvSpPr/>
          <p:nvPr/>
        </p:nvSpPr>
        <p:spPr>
          <a:xfrm>
            <a:off x="4235768" y="2803208"/>
            <a:ext cx="2662357" cy="309205"/>
          </a:xfrm>
          <a:prstGeom prst="rect">
            <a:avLst/>
          </a:prstGeom>
          <a:noFill/>
          <a:ln/>
        </p:spPr>
        <p:txBody>
          <a:bodyPr wrap="none" lIns="0" tIns="0" rIns="0" bIns="0" rtlCol="0" anchor="t"/>
          <a:lstStyle/>
          <a:p>
            <a:pPr algn="l" indent="0" marL="0">
              <a:lnSpc>
                <a:spcPts val="2400"/>
              </a:lnSpc>
              <a:buNone/>
            </a:pPr>
            <a:r>
              <a:rPr lang="en-US" sz="1900" dirty="0">
                <a:solidFill>
                  <a:srgbClr val="F9EEE7"/>
                </a:solidFill>
                <a:latin typeface="Quattrocento" pitchFamily="34" charset="0"/>
                <a:ea typeface="Quattrocento" pitchFamily="34" charset="-122"/>
                <a:cs typeface="Quattrocento" pitchFamily="34" charset="-120"/>
              </a:rPr>
              <a:t>Multi-modal Biometrics</a:t>
            </a:r>
            <a:endParaRPr lang="en-US" sz="1900" dirty="0"/>
          </a:p>
        </p:txBody>
      </p:sp>
      <p:sp>
        <p:nvSpPr>
          <p:cNvPr id="8" name="Text 4"/>
          <p:cNvSpPr/>
          <p:nvPr/>
        </p:nvSpPr>
        <p:spPr>
          <a:xfrm>
            <a:off x="4235768" y="3238500"/>
            <a:ext cx="2869168" cy="1345406"/>
          </a:xfrm>
          <a:prstGeom prst="rect">
            <a:avLst/>
          </a:prstGeom>
          <a:noFill/>
          <a:ln/>
        </p:spPr>
        <p:txBody>
          <a:bodyPr wrap="square" lIns="0" tIns="0" rIns="0" bIns="0" rtlCol="0" anchor="t"/>
          <a:lstStyle/>
          <a:p>
            <a:pPr algn="l" indent="0" marL="0">
              <a:lnSpc>
                <a:spcPts val="2600"/>
              </a:lnSpc>
              <a:buNone/>
            </a:pPr>
            <a:r>
              <a:rPr lang="en-US" sz="1650" dirty="0">
                <a:solidFill>
                  <a:srgbClr val="F9EEE7"/>
                </a:solidFill>
                <a:latin typeface="Quattrocento" pitchFamily="34" charset="0"/>
                <a:ea typeface="Quattrocento" pitchFamily="34" charset="-122"/>
                <a:cs typeface="Quattrocento" pitchFamily="34" charset="-120"/>
              </a:rPr>
              <a:t>Integrating fingerprint or iris recognition to enhance the system's security and reliability.</a:t>
            </a:r>
            <a:endParaRPr lang="en-US" sz="1650" dirty="0"/>
          </a:p>
        </p:txBody>
      </p:sp>
      <p:pic>
        <p:nvPicPr>
          <p:cNvPr id="9" name="Image 2" descr="preencoded.png">    </p:cNvPr>
          <p:cNvPicPr>
            <a:picLocks noChangeAspect="1"/>
          </p:cNvPicPr>
          <p:nvPr/>
        </p:nvPicPr>
        <p:blipFill>
          <a:blip r:embed="rId3"/>
          <a:stretch>
            <a:fillRect/>
          </a:stretch>
        </p:blipFill>
        <p:spPr>
          <a:xfrm>
            <a:off x="7315200" y="1646753"/>
            <a:ext cx="3289578" cy="841058"/>
          </a:xfrm>
          <a:prstGeom prst="rect">
            <a:avLst/>
          </a:prstGeom>
        </p:spPr>
      </p:pic>
      <p:sp>
        <p:nvSpPr>
          <p:cNvPr id="10" name="Text 5"/>
          <p:cNvSpPr/>
          <p:nvPr/>
        </p:nvSpPr>
        <p:spPr>
          <a:xfrm>
            <a:off x="7525464" y="2803208"/>
            <a:ext cx="2473643" cy="309205"/>
          </a:xfrm>
          <a:prstGeom prst="rect">
            <a:avLst/>
          </a:prstGeom>
          <a:noFill/>
          <a:ln/>
        </p:spPr>
        <p:txBody>
          <a:bodyPr wrap="none" lIns="0" tIns="0" rIns="0" bIns="0" rtlCol="0" anchor="t"/>
          <a:lstStyle/>
          <a:p>
            <a:pPr algn="l" indent="0" marL="0">
              <a:lnSpc>
                <a:spcPts val="2400"/>
              </a:lnSpc>
              <a:buNone/>
            </a:pPr>
            <a:r>
              <a:rPr lang="en-US" sz="1900" dirty="0">
                <a:solidFill>
                  <a:srgbClr val="F9EEE7"/>
                </a:solidFill>
                <a:latin typeface="Quattrocento" pitchFamily="34" charset="0"/>
                <a:ea typeface="Quattrocento" pitchFamily="34" charset="-122"/>
                <a:cs typeface="Quattrocento" pitchFamily="34" charset="-120"/>
              </a:rPr>
              <a:t>AR/VR Integration</a:t>
            </a:r>
            <a:endParaRPr lang="en-US" sz="1900" dirty="0"/>
          </a:p>
        </p:txBody>
      </p:sp>
      <p:sp>
        <p:nvSpPr>
          <p:cNvPr id="11" name="Text 6"/>
          <p:cNvSpPr/>
          <p:nvPr/>
        </p:nvSpPr>
        <p:spPr>
          <a:xfrm>
            <a:off x="7525464" y="3238500"/>
            <a:ext cx="2869049" cy="1345406"/>
          </a:xfrm>
          <a:prstGeom prst="rect">
            <a:avLst/>
          </a:prstGeom>
          <a:noFill/>
          <a:ln/>
        </p:spPr>
        <p:txBody>
          <a:bodyPr wrap="square" lIns="0" tIns="0" rIns="0" bIns="0" rtlCol="0" anchor="t"/>
          <a:lstStyle/>
          <a:p>
            <a:pPr algn="l" indent="0" marL="0">
              <a:lnSpc>
                <a:spcPts val="2600"/>
              </a:lnSpc>
              <a:buNone/>
            </a:pPr>
            <a:r>
              <a:rPr lang="en-US" sz="1650" dirty="0">
                <a:solidFill>
                  <a:srgbClr val="F9EEE7"/>
                </a:solidFill>
                <a:latin typeface="Quattrocento" pitchFamily="34" charset="0"/>
                <a:ea typeface="Quattrocento" pitchFamily="34" charset="-122"/>
                <a:cs typeface="Quattrocento" pitchFamily="34" charset="-120"/>
              </a:rPr>
              <a:t>Implementing augmented reality for enhanced user experience and system interaction.</a:t>
            </a:r>
            <a:endParaRPr lang="en-US" sz="1650" dirty="0"/>
          </a:p>
        </p:txBody>
      </p:sp>
      <p:pic>
        <p:nvPicPr>
          <p:cNvPr id="12" name="Image 3" descr="preencoded.png">    </p:cNvPr>
          <p:cNvPicPr>
            <a:picLocks noChangeAspect="1"/>
          </p:cNvPicPr>
          <p:nvPr/>
        </p:nvPicPr>
        <p:blipFill>
          <a:blip r:embed="rId4"/>
          <a:stretch>
            <a:fillRect/>
          </a:stretch>
        </p:blipFill>
        <p:spPr>
          <a:xfrm>
            <a:off x="10604778" y="1646753"/>
            <a:ext cx="3289697" cy="841058"/>
          </a:xfrm>
          <a:prstGeom prst="rect">
            <a:avLst/>
          </a:prstGeom>
        </p:spPr>
      </p:pic>
      <p:sp>
        <p:nvSpPr>
          <p:cNvPr id="13" name="Text 7"/>
          <p:cNvSpPr/>
          <p:nvPr/>
        </p:nvSpPr>
        <p:spPr>
          <a:xfrm>
            <a:off x="10815042" y="2803208"/>
            <a:ext cx="2473643" cy="309205"/>
          </a:xfrm>
          <a:prstGeom prst="rect">
            <a:avLst/>
          </a:prstGeom>
          <a:noFill/>
          <a:ln/>
        </p:spPr>
        <p:txBody>
          <a:bodyPr wrap="none" lIns="0" tIns="0" rIns="0" bIns="0" rtlCol="0" anchor="t"/>
          <a:lstStyle/>
          <a:p>
            <a:pPr algn="l" indent="0" marL="0">
              <a:lnSpc>
                <a:spcPts val="2400"/>
              </a:lnSpc>
              <a:buNone/>
            </a:pPr>
            <a:r>
              <a:rPr lang="en-US" sz="1900" dirty="0">
                <a:solidFill>
                  <a:srgbClr val="F9EEE7"/>
                </a:solidFill>
                <a:latin typeface="Quattrocento" pitchFamily="34" charset="0"/>
                <a:ea typeface="Quattrocento" pitchFamily="34" charset="-122"/>
                <a:cs typeface="Quattrocento" pitchFamily="34" charset="-120"/>
              </a:rPr>
              <a:t>Improved AI Models</a:t>
            </a:r>
            <a:endParaRPr lang="en-US" sz="1900" dirty="0"/>
          </a:p>
        </p:txBody>
      </p:sp>
      <p:sp>
        <p:nvSpPr>
          <p:cNvPr id="14" name="Text 8"/>
          <p:cNvSpPr/>
          <p:nvPr/>
        </p:nvSpPr>
        <p:spPr>
          <a:xfrm>
            <a:off x="10815042" y="3238500"/>
            <a:ext cx="2869168" cy="1345406"/>
          </a:xfrm>
          <a:prstGeom prst="rect">
            <a:avLst/>
          </a:prstGeom>
          <a:noFill/>
          <a:ln/>
        </p:spPr>
        <p:txBody>
          <a:bodyPr wrap="square" lIns="0" tIns="0" rIns="0" bIns="0" rtlCol="0" anchor="t"/>
          <a:lstStyle/>
          <a:p>
            <a:pPr algn="l" indent="0" marL="0">
              <a:lnSpc>
                <a:spcPts val="2600"/>
              </a:lnSpc>
              <a:buNone/>
            </a:pPr>
            <a:r>
              <a:rPr lang="en-US" sz="1650" dirty="0">
                <a:solidFill>
                  <a:srgbClr val="F9EEE7"/>
                </a:solidFill>
                <a:latin typeface="Quattrocento" pitchFamily="34" charset="0"/>
                <a:ea typeface="Quattrocento" pitchFamily="34" charset="-122"/>
                <a:cs typeface="Quattrocento" pitchFamily="34" charset="-120"/>
              </a:rPr>
              <a:t>Experimenting with Swin Transformers and Vision Transformers (ViTs) for higher accuracy in recognition.</a:t>
            </a:r>
            <a:endParaRPr lang="en-US" sz="1650" dirty="0"/>
          </a:p>
        </p:txBody>
      </p:sp>
      <p:sp>
        <p:nvSpPr>
          <p:cNvPr id="15" name="Text 9"/>
          <p:cNvSpPr/>
          <p:nvPr/>
        </p:nvSpPr>
        <p:spPr>
          <a:xfrm>
            <a:off x="735925" y="5703332"/>
            <a:ext cx="13158549" cy="672703"/>
          </a:xfrm>
          <a:prstGeom prst="rect">
            <a:avLst/>
          </a:prstGeom>
          <a:noFill/>
          <a:ln/>
        </p:spPr>
        <p:txBody>
          <a:bodyPr wrap="square" lIns="0" tIns="0" rIns="0" bIns="0" rtlCol="0" anchor="t"/>
          <a:lstStyle/>
          <a:p>
            <a:pPr algn="l" indent="0" marL="0">
              <a:lnSpc>
                <a:spcPts val="2600"/>
              </a:lnSpc>
              <a:buNone/>
            </a:pPr>
            <a:r>
              <a:rPr lang="en-US" sz="1650" dirty="0">
                <a:solidFill>
                  <a:srgbClr val="F9EEE7"/>
                </a:solidFill>
                <a:latin typeface="Quattrocento" pitchFamily="34" charset="0"/>
                <a:ea typeface="Quattrocento" pitchFamily="34" charset="-122"/>
                <a:cs typeface="Quattrocento" pitchFamily="34" charset="-120"/>
              </a:rPr>
              <a:t>Despite the achievements of our project, there are several areas for future exploration and enhancement. One potential avenue is the further refinement of face detection and recognition algorithms to improve performance in challenging conditions.</a:t>
            </a:r>
            <a:endParaRPr lang="en-US" sz="1650" dirty="0"/>
          </a:p>
        </p:txBody>
      </p:sp>
      <p:sp>
        <p:nvSpPr>
          <p:cNvPr id="16" name="Text 10"/>
          <p:cNvSpPr/>
          <p:nvPr/>
        </p:nvSpPr>
        <p:spPr>
          <a:xfrm>
            <a:off x="735925" y="6612493"/>
            <a:ext cx="13158549" cy="1009055"/>
          </a:xfrm>
          <a:prstGeom prst="rect">
            <a:avLst/>
          </a:prstGeom>
          <a:noFill/>
          <a:ln/>
        </p:spPr>
        <p:txBody>
          <a:bodyPr wrap="square" lIns="0" tIns="0" rIns="0" bIns="0" rtlCol="0" anchor="t"/>
          <a:lstStyle/>
          <a:p>
            <a:pPr algn="l" indent="0" marL="0">
              <a:lnSpc>
                <a:spcPts val="2600"/>
              </a:lnSpc>
              <a:buNone/>
            </a:pPr>
            <a:r>
              <a:rPr lang="en-US" sz="1650" dirty="0">
                <a:solidFill>
                  <a:srgbClr val="F9EEE7"/>
                </a:solidFill>
                <a:latin typeface="Quattrocento" pitchFamily="34" charset="0"/>
                <a:ea typeface="Quattrocento" pitchFamily="34" charset="-122"/>
                <a:cs typeface="Quattrocento" pitchFamily="34" charset="-120"/>
              </a:rPr>
              <a:t>Optimizing the system for real-time performance and improving the user interface could facilitate easier adoption by educators and administrators. By addressing these key areas of improvement, we can contribute to the ongoing evolution of attendance tracking technology, ultimately benefiting educational institutions as a whole.</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2025-04-16T15:31:58Z</dcterms:created>
  <dcterms:modified xsi:type="dcterms:W3CDTF">2025-04-16T15:31:58Z</dcterms:modified>
</cp:coreProperties>
</file>